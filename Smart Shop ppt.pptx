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63" name="Shape 63"/>
          <p:cNvSpPr/>
          <p:nvPr>
            <p:ph type="sldImg"/>
          </p:nvPr>
        </p:nvSpPr>
        <p:spPr>
          <a:xfrm>
            <a:off x="1143000" y="685800"/>
            <a:ext cx="4572000" cy="3429000"/>
          </a:xfrm>
          <a:prstGeom prst="rect">
            <a:avLst/>
          </a:prstGeom>
        </p:spPr>
        <p:txBody>
          <a:bodyPr/>
          <a:lstStyle/>
          <a:p>
            <a:pPr/>
          </a:p>
        </p:txBody>
      </p:sp>
      <p:sp>
        <p:nvSpPr>
          <p:cNvPr id="64" name="Shape 64"/>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Helvetica Neue"/>
      </a:defRPr>
    </a:lvl1pPr>
    <a:lvl2pPr indent="228600" latinLnBrk="0">
      <a:defRPr sz="1200">
        <a:latin typeface="+mn-lt"/>
        <a:ea typeface="+mn-ea"/>
        <a:cs typeface="+mn-cs"/>
        <a:sym typeface="Helvetica Neue"/>
      </a:defRPr>
    </a:lvl2pPr>
    <a:lvl3pPr indent="457200" latinLnBrk="0">
      <a:defRPr sz="1200">
        <a:latin typeface="+mn-lt"/>
        <a:ea typeface="+mn-ea"/>
        <a:cs typeface="+mn-cs"/>
        <a:sym typeface="Helvetica Neue"/>
      </a:defRPr>
    </a:lvl3pPr>
    <a:lvl4pPr indent="685800" latinLnBrk="0">
      <a:defRPr sz="1200">
        <a:latin typeface="+mn-lt"/>
        <a:ea typeface="+mn-ea"/>
        <a:cs typeface="+mn-cs"/>
        <a:sym typeface="Helvetica Neue"/>
      </a:defRPr>
    </a:lvl4pPr>
    <a:lvl5pPr indent="914400" latinLnBrk="0">
      <a:defRPr sz="1200">
        <a:latin typeface="+mn-lt"/>
        <a:ea typeface="+mn-ea"/>
        <a:cs typeface="+mn-cs"/>
        <a:sym typeface="Helvetica Neue"/>
      </a:defRPr>
    </a:lvl5pPr>
    <a:lvl6pPr indent="1143000" latinLnBrk="0">
      <a:defRPr sz="1200">
        <a:latin typeface="+mn-lt"/>
        <a:ea typeface="+mn-ea"/>
        <a:cs typeface="+mn-cs"/>
        <a:sym typeface="Helvetica Neue"/>
      </a:defRPr>
    </a:lvl6pPr>
    <a:lvl7pPr indent="1371600" latinLnBrk="0">
      <a:defRPr sz="1200">
        <a:latin typeface="+mn-lt"/>
        <a:ea typeface="+mn-ea"/>
        <a:cs typeface="+mn-cs"/>
        <a:sym typeface="Helvetica Neue"/>
      </a:defRPr>
    </a:lvl7pPr>
    <a:lvl8pPr indent="1600200" latinLnBrk="0">
      <a:defRPr sz="1200">
        <a:latin typeface="+mn-lt"/>
        <a:ea typeface="+mn-ea"/>
        <a:cs typeface="+mn-cs"/>
        <a:sym typeface="Helvetica Neue"/>
      </a:defRPr>
    </a:lvl8pPr>
    <a:lvl9pPr indent="1828800" latinLnBrk="0">
      <a:defRPr sz="1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3" name="Title Text"/>
          <p:cNvSpPr txBox="1"/>
          <p:nvPr>
            <p:ph type="title"/>
          </p:nvPr>
        </p:nvSpPr>
        <p:spPr>
          <a:xfrm>
            <a:off x="685800" y="2125979"/>
            <a:ext cx="7772400" cy="1440181"/>
          </a:xfrm>
          <a:prstGeom prst="rect">
            <a:avLst/>
          </a:prstGeom>
        </p:spPr>
        <p:txBody>
          <a:bodyPr>
            <a:normAutofit fontScale="100000" lnSpcReduction="0"/>
          </a:bodyPr>
          <a:lstStyle/>
          <a:p>
            <a:pPr/>
            <a:r>
              <a:t>Title Text</a:t>
            </a:r>
          </a:p>
        </p:txBody>
      </p:sp>
      <p:sp>
        <p:nvSpPr>
          <p:cNvPr id="14" name="Body Level One…"/>
          <p:cNvSpPr txBox="1"/>
          <p:nvPr>
            <p:ph type="body" sz="quarter" idx="1"/>
          </p:nvPr>
        </p:nvSpPr>
        <p:spPr>
          <a:xfrm>
            <a:off x="1371600" y="3840479"/>
            <a:ext cx="6400800" cy="1714501"/>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1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2" name="Title Text"/>
          <p:cNvSpPr txBox="1"/>
          <p:nvPr>
            <p:ph type="title"/>
          </p:nvPr>
        </p:nvSpPr>
        <p:spPr>
          <a:xfrm>
            <a:off x="546284" y="119878"/>
            <a:ext cx="4144010" cy="581661"/>
          </a:xfrm>
          <a:prstGeom prst="rect">
            <a:avLst/>
          </a:prstGeom>
        </p:spPr>
        <p:txBody>
          <a:bodyPr>
            <a:normAutofit fontScale="100000" lnSpcReduction="0"/>
          </a:bodyPr>
          <a:lstStyle/>
          <a:p>
            <a:pPr/>
            <a:r>
              <a:t>Title Text</a:t>
            </a:r>
          </a:p>
        </p:txBody>
      </p:sp>
      <p:sp>
        <p:nvSpPr>
          <p:cNvPr id="23" name="Body Level One…"/>
          <p:cNvSpPr txBox="1"/>
          <p:nvPr>
            <p:ph type="body" sz="half" idx="1"/>
          </p:nvPr>
        </p:nvSpPr>
        <p:spPr>
          <a:xfrm>
            <a:off x="837472" y="1204066"/>
            <a:ext cx="5043171" cy="3698876"/>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2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Content 0">
    <p:spTree>
      <p:nvGrpSpPr>
        <p:cNvPr id="1" name=""/>
        <p:cNvGrpSpPr/>
        <p:nvPr/>
      </p:nvGrpSpPr>
      <p:grpSpPr>
        <a:xfrm>
          <a:off x="0" y="0"/>
          <a:ext cx="0" cy="0"/>
          <a:chOff x="0" y="0"/>
          <a:chExt cx="0" cy="0"/>
        </a:xfrm>
      </p:grpSpPr>
      <p:sp>
        <p:nvSpPr>
          <p:cNvPr id="31" name="Title Text"/>
          <p:cNvSpPr txBox="1"/>
          <p:nvPr>
            <p:ph type="title"/>
          </p:nvPr>
        </p:nvSpPr>
        <p:spPr>
          <a:xfrm>
            <a:off x="546284" y="119878"/>
            <a:ext cx="4144010" cy="581661"/>
          </a:xfrm>
          <a:prstGeom prst="rect">
            <a:avLst/>
          </a:prstGeom>
        </p:spPr>
        <p:txBody>
          <a:bodyPr>
            <a:normAutofit fontScale="100000" lnSpcReduction="0"/>
          </a:bodyPr>
          <a:lstStyle/>
          <a:p>
            <a:pPr/>
            <a:r>
              <a:t>Title Text</a:t>
            </a:r>
          </a:p>
        </p:txBody>
      </p:sp>
      <p:sp>
        <p:nvSpPr>
          <p:cNvPr id="32" name="Body Level One…"/>
          <p:cNvSpPr txBox="1"/>
          <p:nvPr>
            <p:ph type="body" sz="half" idx="1"/>
          </p:nvPr>
        </p:nvSpPr>
        <p:spPr>
          <a:xfrm>
            <a:off x="837472" y="1204066"/>
            <a:ext cx="5043171" cy="3698876"/>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3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40" name="Title Text"/>
          <p:cNvSpPr txBox="1"/>
          <p:nvPr>
            <p:ph type="title"/>
          </p:nvPr>
        </p:nvSpPr>
        <p:spPr>
          <a:xfrm>
            <a:off x="546284" y="119878"/>
            <a:ext cx="4144010" cy="581661"/>
          </a:xfrm>
          <a:prstGeom prst="rect">
            <a:avLst/>
          </a:prstGeom>
        </p:spPr>
        <p:txBody>
          <a:bodyPr>
            <a:normAutofit fontScale="100000" lnSpcReduction="0"/>
          </a:bodyPr>
          <a:lstStyle/>
          <a:p>
            <a:pPr/>
            <a:r>
              <a:t>Title Text</a:t>
            </a:r>
          </a:p>
        </p:txBody>
      </p:sp>
      <p:sp>
        <p:nvSpPr>
          <p:cNvPr id="41" name="Body Level One…"/>
          <p:cNvSpPr txBox="1"/>
          <p:nvPr>
            <p:ph type="body" sz="half" idx="1"/>
          </p:nvPr>
        </p:nvSpPr>
        <p:spPr>
          <a:xfrm>
            <a:off x="457200" y="1577339"/>
            <a:ext cx="3977641" cy="4526281"/>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49" name="Title Text"/>
          <p:cNvSpPr txBox="1"/>
          <p:nvPr>
            <p:ph type="title"/>
          </p:nvPr>
        </p:nvSpPr>
        <p:spPr>
          <a:xfrm>
            <a:off x="546284" y="119878"/>
            <a:ext cx="4144010" cy="581661"/>
          </a:xfrm>
          <a:prstGeom prst="rect">
            <a:avLst/>
          </a:prstGeom>
        </p:spPr>
        <p:txBody>
          <a:bodyPr>
            <a:normAutofit fontScale="100000" lnSpcReduction="0"/>
          </a:bodyPr>
          <a:lstStyle/>
          <a:p>
            <a:pPr/>
            <a:r>
              <a:t>Title Text</a:t>
            </a: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5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bg object 16"/>
          <p:cNvSpPr/>
          <p:nvPr/>
        </p:nvSpPr>
        <p:spPr>
          <a:xfrm>
            <a:off x="0" y="0"/>
            <a:ext cx="9144892" cy="838200"/>
          </a:xfrm>
          <a:prstGeom prst="rect">
            <a:avLst/>
          </a:prstGeom>
          <a:solidFill>
            <a:srgbClr val="FF3300"/>
          </a:solidFill>
          <a:ln w="12700">
            <a:miter lim="400000"/>
          </a:ln>
        </p:spPr>
        <p:txBody>
          <a:bodyPr lIns="45719" rIns="45719"/>
          <a:lstStyle/>
          <a:p>
            <a:pPr/>
          </a:p>
        </p:txBody>
      </p:sp>
      <p:sp>
        <p:nvSpPr>
          <p:cNvPr id="3" name="bg object 17"/>
          <p:cNvSpPr/>
          <p:nvPr/>
        </p:nvSpPr>
        <p:spPr>
          <a:xfrm>
            <a:off x="-1" y="6705600"/>
            <a:ext cx="9144001" cy="152400"/>
          </a:xfrm>
          <a:prstGeom prst="rect">
            <a:avLst/>
          </a:prstGeom>
          <a:solidFill>
            <a:srgbClr val="FF0000"/>
          </a:solidFill>
          <a:ln w="12700">
            <a:miter lim="400000"/>
          </a:ln>
        </p:spPr>
        <p:txBody>
          <a:bodyPr lIns="45719" rIns="45719"/>
          <a:lstStyle/>
          <a:p>
            <a:pPr/>
          </a:p>
        </p:txBody>
      </p:sp>
      <p:sp>
        <p:nvSpPr>
          <p:cNvPr id="4" name="Title Text"/>
          <p:cNvSpPr txBox="1"/>
          <p:nvPr>
            <p:ph type="title"/>
          </p:nvPr>
        </p:nvSpPr>
        <p:spPr>
          <a:xfrm>
            <a:off x="457200" y="274637"/>
            <a:ext cx="8229600" cy="1325563"/>
          </a:xfrm>
          <a:prstGeom prst="rect">
            <a:avLst/>
          </a:prstGeom>
          <a:ln w="12700">
            <a:miter lim="400000"/>
          </a:ln>
          <a:extLst>
            <a:ext uri="{C572A759-6A51-4108-AA02-DFA0A04FC94B}">
              <ma14:wrappingTextBoxFlag xmlns:ma14="http://schemas.microsoft.com/office/mac/drawingml/2011/main" val="1"/>
            </a:ext>
          </a:extLst>
        </p:spPr>
        <p:txBody>
          <a:bodyPr lIns="0" tIns="0" rIns="0" bIns="0"/>
          <a:lstStyle/>
          <a:p>
            <a:pPr/>
            <a:r>
              <a:t>Title Text</a:t>
            </a:r>
          </a:p>
        </p:txBody>
      </p:sp>
      <p:sp>
        <p:nvSpPr>
          <p:cNvPr id="5" name="Body Level One…"/>
          <p:cNvSpPr txBox="1"/>
          <p:nvPr>
            <p:ph type="body" idx="1"/>
          </p:nvPr>
        </p:nvSpPr>
        <p:spPr>
          <a:xfrm>
            <a:off x="457200" y="1600200"/>
            <a:ext cx="8229600" cy="5257800"/>
          </a:xfrm>
          <a:prstGeom prst="rect">
            <a:avLst/>
          </a:prstGeom>
          <a:ln w="12700">
            <a:miter lim="400000"/>
          </a:ln>
          <a:extLst>
            <a:ext uri="{C572A759-6A51-4108-AA02-DFA0A04FC94B}">
              <ma14:wrappingTextBoxFlag xmlns:ma14="http://schemas.microsoft.com/office/mac/drawingml/2011/main" val="1"/>
            </a:ext>
          </a:extLst>
        </p:spPr>
        <p:txBody>
          <a:bodyPr lIns="0" tIns="0" rIns="0" bIns="0"/>
          <a:lstStyle/>
          <a:p>
            <a:pPr/>
            <a:r>
              <a:t>Body Level One</a:t>
            </a:r>
          </a:p>
          <a:p>
            <a:pPr lvl="1"/>
            <a:r>
              <a:t>Body Level Two</a:t>
            </a:r>
          </a:p>
          <a:p>
            <a:pPr lvl="2"/>
            <a:r>
              <a:t>Body Level Three</a:t>
            </a:r>
          </a:p>
          <a:p>
            <a:pPr lvl="3"/>
            <a:r>
              <a:t>Body Level Four</a:t>
            </a:r>
          </a:p>
          <a:p>
            <a:pPr lvl="4"/>
            <a:r>
              <a:t>Body Level Five</a:t>
            </a:r>
          </a:p>
        </p:txBody>
      </p:sp>
      <p:sp>
        <p:nvSpPr>
          <p:cNvPr id="6" name="Slide Number"/>
          <p:cNvSpPr txBox="1"/>
          <p:nvPr>
            <p:ph type="sldNum" sz="quarter" idx="2"/>
          </p:nvPr>
        </p:nvSpPr>
        <p:spPr>
          <a:xfrm>
            <a:off x="8419827" y="6377940"/>
            <a:ext cx="266974" cy="279401"/>
          </a:xfrm>
          <a:prstGeom prst="rect">
            <a:avLst/>
          </a:prstGeom>
          <a:ln w="12700">
            <a:miter lim="400000"/>
          </a:ln>
        </p:spPr>
        <p:txBody>
          <a:bodyPr wrap="none" lIns="0" tIns="0" rIns="0" bIns="0">
            <a:spAutoFit/>
          </a:bodyPr>
          <a:lstStyle>
            <a:lvl1pPr algn="r">
              <a:defRPr>
                <a:solidFill>
                  <a:srgbClr val="888888"/>
                </a:solidFill>
                <a:latin typeface="+mj-lt"/>
                <a:ea typeface="+mj-ea"/>
                <a:cs typeface="+mj-cs"/>
                <a:sym typeface="Helvetic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3200" u="none">
          <a:solidFill>
            <a:srgbClr val="000000"/>
          </a:solidFill>
          <a:uFillTx/>
          <a:latin typeface="Tahoma"/>
          <a:ea typeface="Tahoma"/>
          <a:cs typeface="Tahoma"/>
          <a:sym typeface="Tahoma"/>
        </a:defRPr>
      </a:lvl1pPr>
      <a:lvl2pPr marL="0" marR="0" indent="0" algn="l" defTabSz="914400" rtl="0" latinLnBrk="0">
        <a:lnSpc>
          <a:spcPct val="100000"/>
        </a:lnSpc>
        <a:spcBef>
          <a:spcPts val="0"/>
        </a:spcBef>
        <a:spcAft>
          <a:spcPts val="0"/>
        </a:spcAft>
        <a:buClrTx/>
        <a:buSzTx/>
        <a:buFontTx/>
        <a:buNone/>
        <a:tabLst/>
        <a:defRPr b="0" baseline="0" cap="none" i="0" spc="0" strike="noStrike" sz="3200" u="none">
          <a:solidFill>
            <a:srgbClr val="000000"/>
          </a:solidFill>
          <a:uFillTx/>
          <a:latin typeface="Tahoma"/>
          <a:ea typeface="Tahoma"/>
          <a:cs typeface="Tahoma"/>
          <a:sym typeface="Tahoma"/>
        </a:defRPr>
      </a:lvl2pPr>
      <a:lvl3pPr marL="0" marR="0" indent="0" algn="l" defTabSz="914400" rtl="0" latinLnBrk="0">
        <a:lnSpc>
          <a:spcPct val="100000"/>
        </a:lnSpc>
        <a:spcBef>
          <a:spcPts val="0"/>
        </a:spcBef>
        <a:spcAft>
          <a:spcPts val="0"/>
        </a:spcAft>
        <a:buClrTx/>
        <a:buSzTx/>
        <a:buFontTx/>
        <a:buNone/>
        <a:tabLst/>
        <a:defRPr b="0" baseline="0" cap="none" i="0" spc="0" strike="noStrike" sz="3200" u="none">
          <a:solidFill>
            <a:srgbClr val="000000"/>
          </a:solidFill>
          <a:uFillTx/>
          <a:latin typeface="Tahoma"/>
          <a:ea typeface="Tahoma"/>
          <a:cs typeface="Tahoma"/>
          <a:sym typeface="Tahoma"/>
        </a:defRPr>
      </a:lvl3pPr>
      <a:lvl4pPr marL="0" marR="0" indent="0" algn="l" defTabSz="914400" rtl="0" latinLnBrk="0">
        <a:lnSpc>
          <a:spcPct val="100000"/>
        </a:lnSpc>
        <a:spcBef>
          <a:spcPts val="0"/>
        </a:spcBef>
        <a:spcAft>
          <a:spcPts val="0"/>
        </a:spcAft>
        <a:buClrTx/>
        <a:buSzTx/>
        <a:buFontTx/>
        <a:buNone/>
        <a:tabLst/>
        <a:defRPr b="0" baseline="0" cap="none" i="0" spc="0" strike="noStrike" sz="3200" u="none">
          <a:solidFill>
            <a:srgbClr val="000000"/>
          </a:solidFill>
          <a:uFillTx/>
          <a:latin typeface="Tahoma"/>
          <a:ea typeface="Tahoma"/>
          <a:cs typeface="Tahoma"/>
          <a:sym typeface="Tahoma"/>
        </a:defRPr>
      </a:lvl4pPr>
      <a:lvl5pPr marL="0" marR="0" indent="0" algn="l" defTabSz="914400" rtl="0" latinLnBrk="0">
        <a:lnSpc>
          <a:spcPct val="100000"/>
        </a:lnSpc>
        <a:spcBef>
          <a:spcPts val="0"/>
        </a:spcBef>
        <a:spcAft>
          <a:spcPts val="0"/>
        </a:spcAft>
        <a:buClrTx/>
        <a:buSzTx/>
        <a:buFontTx/>
        <a:buNone/>
        <a:tabLst/>
        <a:defRPr b="0" baseline="0" cap="none" i="0" spc="0" strike="noStrike" sz="3200" u="none">
          <a:solidFill>
            <a:srgbClr val="000000"/>
          </a:solidFill>
          <a:uFillTx/>
          <a:latin typeface="Tahoma"/>
          <a:ea typeface="Tahoma"/>
          <a:cs typeface="Tahoma"/>
          <a:sym typeface="Tahoma"/>
        </a:defRPr>
      </a:lvl5pPr>
      <a:lvl6pPr marL="0" marR="0" indent="0" algn="l" defTabSz="914400" rtl="0" latinLnBrk="0">
        <a:lnSpc>
          <a:spcPct val="100000"/>
        </a:lnSpc>
        <a:spcBef>
          <a:spcPts val="0"/>
        </a:spcBef>
        <a:spcAft>
          <a:spcPts val="0"/>
        </a:spcAft>
        <a:buClrTx/>
        <a:buSzTx/>
        <a:buFontTx/>
        <a:buNone/>
        <a:tabLst/>
        <a:defRPr b="0" baseline="0" cap="none" i="0" spc="0" strike="noStrike" sz="3200" u="none">
          <a:solidFill>
            <a:srgbClr val="000000"/>
          </a:solidFill>
          <a:uFillTx/>
          <a:latin typeface="Tahoma"/>
          <a:ea typeface="Tahoma"/>
          <a:cs typeface="Tahoma"/>
          <a:sym typeface="Tahoma"/>
        </a:defRPr>
      </a:lvl6pPr>
      <a:lvl7pPr marL="0" marR="0" indent="0" algn="l" defTabSz="914400" rtl="0" latinLnBrk="0">
        <a:lnSpc>
          <a:spcPct val="100000"/>
        </a:lnSpc>
        <a:spcBef>
          <a:spcPts val="0"/>
        </a:spcBef>
        <a:spcAft>
          <a:spcPts val="0"/>
        </a:spcAft>
        <a:buClrTx/>
        <a:buSzTx/>
        <a:buFontTx/>
        <a:buNone/>
        <a:tabLst/>
        <a:defRPr b="0" baseline="0" cap="none" i="0" spc="0" strike="noStrike" sz="3200" u="none">
          <a:solidFill>
            <a:srgbClr val="000000"/>
          </a:solidFill>
          <a:uFillTx/>
          <a:latin typeface="Tahoma"/>
          <a:ea typeface="Tahoma"/>
          <a:cs typeface="Tahoma"/>
          <a:sym typeface="Tahoma"/>
        </a:defRPr>
      </a:lvl7pPr>
      <a:lvl8pPr marL="0" marR="0" indent="0" algn="l" defTabSz="914400" rtl="0" latinLnBrk="0">
        <a:lnSpc>
          <a:spcPct val="100000"/>
        </a:lnSpc>
        <a:spcBef>
          <a:spcPts val="0"/>
        </a:spcBef>
        <a:spcAft>
          <a:spcPts val="0"/>
        </a:spcAft>
        <a:buClrTx/>
        <a:buSzTx/>
        <a:buFontTx/>
        <a:buNone/>
        <a:tabLst/>
        <a:defRPr b="0" baseline="0" cap="none" i="0" spc="0" strike="noStrike" sz="3200" u="none">
          <a:solidFill>
            <a:srgbClr val="000000"/>
          </a:solidFill>
          <a:uFillTx/>
          <a:latin typeface="Tahoma"/>
          <a:ea typeface="Tahoma"/>
          <a:cs typeface="Tahoma"/>
          <a:sym typeface="Tahoma"/>
        </a:defRPr>
      </a:lvl8pPr>
      <a:lvl9pPr marL="0" marR="0" indent="0" algn="l" defTabSz="914400" rtl="0" latinLnBrk="0">
        <a:lnSpc>
          <a:spcPct val="100000"/>
        </a:lnSpc>
        <a:spcBef>
          <a:spcPts val="0"/>
        </a:spcBef>
        <a:spcAft>
          <a:spcPts val="0"/>
        </a:spcAft>
        <a:buClrTx/>
        <a:buSzTx/>
        <a:buFontTx/>
        <a:buNone/>
        <a:tabLst/>
        <a:defRPr b="0" baseline="0" cap="none" i="0" spc="0" strike="noStrike" sz="3200" u="none">
          <a:solidFill>
            <a:srgbClr val="000000"/>
          </a:solidFill>
          <a:uFillTx/>
          <a:latin typeface="Tahoma"/>
          <a:ea typeface="Tahoma"/>
          <a:cs typeface="Tahoma"/>
          <a:sym typeface="Tahoma"/>
        </a:defRPr>
      </a:lvl9pPr>
    </p:titleStyle>
    <p:bodyStyle>
      <a:lvl1pPr marL="0" marR="0" indent="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Tahoma"/>
          <a:ea typeface="Tahoma"/>
          <a:cs typeface="Tahoma"/>
          <a:sym typeface="Tahoma"/>
        </a:defRPr>
      </a:lvl1pPr>
      <a:lvl2pPr marL="0" marR="0" indent="45720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Tahoma"/>
          <a:ea typeface="Tahoma"/>
          <a:cs typeface="Tahoma"/>
          <a:sym typeface="Tahoma"/>
        </a:defRPr>
      </a:lvl2pPr>
      <a:lvl3pPr marL="0" marR="0" indent="91440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Tahoma"/>
          <a:ea typeface="Tahoma"/>
          <a:cs typeface="Tahoma"/>
          <a:sym typeface="Tahoma"/>
        </a:defRPr>
      </a:lvl3pPr>
      <a:lvl4pPr marL="0" marR="0" indent="137160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Tahoma"/>
          <a:ea typeface="Tahoma"/>
          <a:cs typeface="Tahoma"/>
          <a:sym typeface="Tahoma"/>
        </a:defRPr>
      </a:lvl4pPr>
      <a:lvl5pPr marL="0" marR="0" indent="182880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Tahoma"/>
          <a:ea typeface="Tahoma"/>
          <a:cs typeface="Tahoma"/>
          <a:sym typeface="Tahoma"/>
        </a:defRPr>
      </a:lvl5pPr>
      <a:lvl6pPr marL="0" marR="0" indent="228600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Tahoma"/>
          <a:ea typeface="Tahoma"/>
          <a:cs typeface="Tahoma"/>
          <a:sym typeface="Tahoma"/>
        </a:defRPr>
      </a:lvl6pPr>
      <a:lvl7pPr marL="0" marR="0" indent="274320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Tahoma"/>
          <a:ea typeface="Tahoma"/>
          <a:cs typeface="Tahoma"/>
          <a:sym typeface="Tahoma"/>
        </a:defRPr>
      </a:lvl7pPr>
      <a:lvl8pPr marL="0" marR="0" indent="320040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Tahoma"/>
          <a:ea typeface="Tahoma"/>
          <a:cs typeface="Tahoma"/>
          <a:sym typeface="Tahoma"/>
        </a:defRPr>
      </a:lvl8pPr>
      <a:lvl9pPr marL="0" marR="0" indent="3657600" algn="l" defTabSz="914400" rtl="0" latinLnBrk="0">
        <a:lnSpc>
          <a:spcPct val="100000"/>
        </a:lnSpc>
        <a:spcBef>
          <a:spcPts val="0"/>
        </a:spcBef>
        <a:spcAft>
          <a:spcPts val="0"/>
        </a:spcAft>
        <a:buClrTx/>
        <a:buSzTx/>
        <a:buFontTx/>
        <a:buNone/>
        <a:tabLst/>
        <a:defRPr b="0" baseline="0" cap="none" i="0" spc="0" strike="noStrike" sz="1400" u="none">
          <a:solidFill>
            <a:srgbClr val="000000"/>
          </a:solidFill>
          <a:uFillTx/>
          <a:latin typeface="Tahoma"/>
          <a:ea typeface="Tahoma"/>
          <a:cs typeface="Tahoma"/>
          <a:sym typeface="Tahoma"/>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4.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4.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9.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4.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69" name="object 2"/>
          <p:cNvGrpSpPr/>
          <p:nvPr/>
        </p:nvGrpSpPr>
        <p:grpSpPr>
          <a:xfrm>
            <a:off x="6146792" y="-1"/>
            <a:ext cx="2995922" cy="876295"/>
            <a:chOff x="0" y="0"/>
            <a:chExt cx="2995921" cy="876293"/>
          </a:xfrm>
        </p:grpSpPr>
        <p:pic>
          <p:nvPicPr>
            <p:cNvPr id="66" name="object 3" descr="object 3"/>
            <p:cNvPicPr>
              <a:picLocks noChangeAspect="1"/>
            </p:cNvPicPr>
            <p:nvPr/>
          </p:nvPicPr>
          <p:blipFill>
            <a:blip r:embed="rId2">
              <a:extLst/>
            </a:blip>
            <a:stretch>
              <a:fillRect/>
            </a:stretch>
          </p:blipFill>
          <p:spPr>
            <a:xfrm>
              <a:off x="406406" y="228599"/>
              <a:ext cx="2057400" cy="638176"/>
            </a:xfrm>
            <a:prstGeom prst="rect">
              <a:avLst/>
            </a:prstGeom>
            <a:ln w="12700" cap="flat">
              <a:noFill/>
              <a:miter lim="400000"/>
            </a:ln>
            <a:effectLst/>
          </p:spPr>
        </p:pic>
        <p:sp>
          <p:nvSpPr>
            <p:cNvPr id="67" name="object 4"/>
            <p:cNvSpPr/>
            <p:nvPr/>
          </p:nvSpPr>
          <p:spPr>
            <a:xfrm>
              <a:off x="-1" y="-1"/>
              <a:ext cx="2995922" cy="838195"/>
            </a:xfrm>
            <a:prstGeom prst="rect">
              <a:avLst/>
            </a:prstGeom>
            <a:solidFill>
              <a:srgbClr val="FF3300"/>
            </a:solidFill>
            <a:ln w="12700" cap="flat">
              <a:noFill/>
              <a:miter lim="400000"/>
            </a:ln>
            <a:effectLst/>
          </p:spPr>
          <p:txBody>
            <a:bodyPr wrap="square" lIns="45719" tIns="45719" rIns="45719" bIns="45719" numCol="1" anchor="t">
              <a:noAutofit/>
            </a:bodyPr>
            <a:lstStyle/>
            <a:p>
              <a:pPr/>
            </a:p>
          </p:txBody>
        </p:sp>
        <p:pic>
          <p:nvPicPr>
            <p:cNvPr id="68" name="object 5" descr="object 5"/>
            <p:cNvPicPr>
              <a:picLocks noChangeAspect="1"/>
            </p:cNvPicPr>
            <p:nvPr/>
          </p:nvPicPr>
          <p:blipFill>
            <a:blip r:embed="rId3">
              <a:extLst/>
            </a:blip>
            <a:stretch>
              <a:fillRect/>
            </a:stretch>
          </p:blipFill>
          <p:spPr>
            <a:xfrm>
              <a:off x="380997" y="190496"/>
              <a:ext cx="2082808" cy="685797"/>
            </a:xfrm>
            <a:prstGeom prst="rect">
              <a:avLst/>
            </a:prstGeom>
            <a:ln w="12700" cap="flat">
              <a:noFill/>
              <a:miter lim="400000"/>
            </a:ln>
            <a:effectLst/>
          </p:spPr>
        </p:pic>
      </p:grpSp>
      <p:sp>
        <p:nvSpPr>
          <p:cNvPr id="70" name="object 6"/>
          <p:cNvSpPr txBox="1"/>
          <p:nvPr>
            <p:ph type="title"/>
          </p:nvPr>
        </p:nvSpPr>
        <p:spPr>
          <a:xfrm>
            <a:off x="2389084" y="1157159"/>
            <a:ext cx="4867276" cy="558801"/>
          </a:xfrm>
          <a:prstGeom prst="rect">
            <a:avLst/>
          </a:prstGeom>
        </p:spPr>
        <p:txBody>
          <a:bodyPr/>
          <a:lstStyle/>
          <a:p>
            <a:pPr indent="12700">
              <a:spcBef>
                <a:spcPts val="100"/>
              </a:spcBef>
              <a:defRPr sz="3500">
                <a:solidFill>
                  <a:srgbClr val="FF0000"/>
                </a:solidFill>
                <a:latin typeface="Arial"/>
                <a:ea typeface="Arial"/>
                <a:cs typeface="Arial"/>
                <a:sym typeface="Arial"/>
              </a:defRPr>
            </a:pPr>
            <a:r>
              <a:t>Front</a:t>
            </a:r>
            <a:r>
              <a:rPr spc="-100"/>
              <a:t> </a:t>
            </a:r>
            <a:r>
              <a:t>End</a:t>
            </a:r>
            <a:r>
              <a:rPr spc="-100"/>
              <a:t> Engineering-II</a:t>
            </a:r>
          </a:p>
        </p:txBody>
      </p:sp>
      <p:sp>
        <p:nvSpPr>
          <p:cNvPr id="71" name="object 7"/>
          <p:cNvSpPr txBox="1"/>
          <p:nvPr/>
        </p:nvSpPr>
        <p:spPr>
          <a:xfrm>
            <a:off x="2208436" y="2852936"/>
            <a:ext cx="5113021" cy="1739901"/>
          </a:xfrm>
          <a:prstGeom prst="rect">
            <a:avLst/>
          </a:prstGeom>
          <a:solidFill>
            <a:srgbClr val="FABF8F"/>
          </a:solidFill>
          <a:ln w="12700">
            <a:miter lim="400000"/>
          </a:ln>
          <a:extLst>
            <a:ext uri="{C572A759-6A51-4108-AA02-DFA0A04FC94B}">
              <ma14:wrappingTextBoxFlag xmlns:ma14="http://schemas.microsoft.com/office/mac/drawingml/2011/main" val="1"/>
            </a:ext>
          </a:extLst>
        </p:spPr>
        <p:txBody>
          <a:bodyPr lIns="0" tIns="0" rIns="0" bIns="0">
            <a:spAutoFit/>
          </a:bodyPr>
          <a:lstStyle/>
          <a:p>
            <a:pPr indent="33019">
              <a:defRPr b="1" sz="2000"/>
            </a:pPr>
            <a:r>
              <a:t>Team</a:t>
            </a:r>
            <a:r>
              <a:rPr spc="-65"/>
              <a:t> </a:t>
            </a:r>
            <a:r>
              <a:t>Details:</a:t>
            </a:r>
            <a:r>
              <a:t> Harshita Goyal:2410990338</a:t>
            </a:r>
          </a:p>
          <a:p>
            <a:pPr indent="33019">
              <a:defRPr b="1" sz="2000"/>
            </a:pPr>
            <a:r>
              <a:t>	         Ananya Mahajan: 2410990919</a:t>
            </a:r>
          </a:p>
          <a:p>
            <a:pPr indent="33019">
              <a:defRPr b="1" sz="2000"/>
            </a:pPr>
            <a:r>
              <a:t>	         Amisha Jindal: 2410990917</a:t>
            </a:r>
          </a:p>
          <a:p>
            <a:pPr>
              <a:spcBef>
                <a:spcPts val="1700"/>
              </a:spcBef>
              <a:defRPr sz="2000"/>
            </a:pPr>
          </a:p>
          <a:p>
            <a:pPr indent="32384">
              <a:defRPr sz="2000">
                <a:latin typeface="Tahoma"/>
                <a:ea typeface="Tahoma"/>
                <a:cs typeface="Tahoma"/>
                <a:sym typeface="Tahoma"/>
              </a:defRPr>
            </a:pPr>
            <a:r>
              <a:t>Faculty</a:t>
            </a:r>
            <a:r>
              <a:rPr spc="79"/>
              <a:t> </a:t>
            </a:r>
            <a:r>
              <a:rPr spc="85"/>
              <a:t>Coordinator </a:t>
            </a:r>
            <a:r>
              <a:t>:</a:t>
            </a:r>
            <a:r>
              <a:rPr spc="79"/>
              <a:t> </a:t>
            </a:r>
            <a:r>
              <a:rPr spc="100"/>
              <a:t>Md.</a:t>
            </a:r>
            <a:r>
              <a:rPr spc="85"/>
              <a:t> </a:t>
            </a:r>
            <a:r>
              <a:rPr spc="70"/>
              <a:t>Shadab</a:t>
            </a:r>
            <a:r>
              <a:rPr spc="85"/>
              <a:t> </a:t>
            </a:r>
            <a:r>
              <a:rPr spc="60"/>
              <a:t>Ansari</a:t>
            </a:r>
          </a:p>
        </p:txBody>
      </p:sp>
      <p:sp>
        <p:nvSpPr>
          <p:cNvPr id="72" name="object 8"/>
          <p:cNvSpPr txBox="1"/>
          <p:nvPr/>
        </p:nvSpPr>
        <p:spPr>
          <a:xfrm>
            <a:off x="1266363" y="5647139"/>
            <a:ext cx="7331076" cy="57824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816735" marR="5080" indent="-1804670">
              <a:lnSpc>
                <a:spcPts val="2300"/>
              </a:lnSpc>
              <a:spcBef>
                <a:spcPts val="200"/>
              </a:spcBef>
              <a:defRPr spc="60" sz="2000">
                <a:solidFill>
                  <a:srgbClr val="FF0000"/>
                </a:solidFill>
                <a:latin typeface="Tahoma"/>
                <a:ea typeface="Tahoma"/>
                <a:cs typeface="Tahoma"/>
                <a:sym typeface="Tahoma"/>
              </a:defRPr>
            </a:pPr>
            <a:r>
              <a:t>Chitkara</a:t>
            </a:r>
            <a:r>
              <a:rPr spc="65"/>
              <a:t> </a:t>
            </a:r>
            <a:r>
              <a:t>University</a:t>
            </a:r>
            <a:r>
              <a:rPr spc="70"/>
              <a:t> </a:t>
            </a:r>
            <a:r>
              <a:rPr spc="45"/>
              <a:t>Institute</a:t>
            </a:r>
            <a:r>
              <a:rPr spc="70"/>
              <a:t> </a:t>
            </a:r>
            <a:r>
              <a:rPr spc="75"/>
              <a:t>of</a:t>
            </a:r>
            <a:r>
              <a:rPr spc="70"/>
              <a:t> </a:t>
            </a:r>
            <a:r>
              <a:rPr spc="79"/>
              <a:t>Engineering</a:t>
            </a:r>
            <a:r>
              <a:rPr spc="70"/>
              <a:t> </a:t>
            </a:r>
            <a:r>
              <a:rPr spc="95"/>
              <a:t>and</a:t>
            </a:r>
            <a:r>
              <a:rPr spc="70"/>
              <a:t> </a:t>
            </a:r>
            <a:r>
              <a:rPr spc="39"/>
              <a:t>Technology, </a:t>
            </a:r>
            <a:r>
              <a:t>Chitkara</a:t>
            </a:r>
            <a:r>
              <a:rPr spc="70"/>
              <a:t> </a:t>
            </a:r>
            <a:r>
              <a:rPr spc="50"/>
              <a:t>University,</a:t>
            </a:r>
            <a:r>
              <a:rPr spc="70"/>
              <a:t> </a:t>
            </a:r>
            <a:r>
              <a:rPr spc="65"/>
              <a:t>Punjab</a:t>
            </a:r>
          </a:p>
        </p:txBody>
      </p:sp>
      <p:sp>
        <p:nvSpPr>
          <p:cNvPr id="73" name="object 9"/>
          <p:cNvSpPr txBox="1"/>
          <p:nvPr/>
        </p:nvSpPr>
        <p:spPr>
          <a:xfrm>
            <a:off x="2939114" y="2277684"/>
            <a:ext cx="2735581" cy="241648"/>
          </a:xfrm>
          <a:prstGeom prst="rect">
            <a:avLst/>
          </a:prstGeom>
          <a:solidFill>
            <a:srgbClr val="FFFFFF"/>
          </a:solidFill>
          <a:ln w="12700">
            <a:miter lim="400000"/>
          </a:ln>
          <a:effectLst>
            <a:outerShdw sx="100000" sy="100000" kx="0" ky="0" algn="b" rotWithShape="0" blurRad="38100" dist="23000" dir="5400000">
              <a:srgbClr val="000000">
                <a:alpha val="35000"/>
              </a:srgbClr>
            </a:outerShdw>
          </a:effectLst>
          <a:extLst>
            <a:ext uri="{C572A759-6A51-4108-AA02-DFA0A04FC94B}">
              <ma14:wrappingTextBoxFlag xmlns:ma14="http://schemas.microsoft.com/office/mac/drawingml/2011/main" val="1"/>
            </a:ext>
          </a:extLst>
        </p:spPr>
        <p:txBody>
          <a:bodyPr lIns="0" tIns="0" rIns="0" bIns="0">
            <a:spAutoFit/>
          </a:bodyPr>
          <a:lstStyle>
            <a:lvl1pPr algn="ctr">
              <a:defRPr b="1"/>
            </a:lvl1pPr>
          </a:lstStyle>
          <a:p>
            <a:pPr/>
            <a:r>
              <a:t>G12-FE-PID-16</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78" name="object 2"/>
          <p:cNvGrpSpPr/>
          <p:nvPr/>
        </p:nvGrpSpPr>
        <p:grpSpPr>
          <a:xfrm>
            <a:off x="6146792" y="-1"/>
            <a:ext cx="2995922" cy="876295"/>
            <a:chOff x="0" y="0"/>
            <a:chExt cx="2995921" cy="876293"/>
          </a:xfrm>
        </p:grpSpPr>
        <p:pic>
          <p:nvPicPr>
            <p:cNvPr id="75" name="object 3" descr="object 3"/>
            <p:cNvPicPr>
              <a:picLocks noChangeAspect="1"/>
            </p:cNvPicPr>
            <p:nvPr/>
          </p:nvPicPr>
          <p:blipFill>
            <a:blip r:embed="rId2">
              <a:extLst/>
            </a:blip>
            <a:stretch>
              <a:fillRect/>
            </a:stretch>
          </p:blipFill>
          <p:spPr>
            <a:xfrm>
              <a:off x="406406" y="228599"/>
              <a:ext cx="2057400" cy="638176"/>
            </a:xfrm>
            <a:prstGeom prst="rect">
              <a:avLst/>
            </a:prstGeom>
            <a:ln w="12700" cap="flat">
              <a:noFill/>
              <a:miter lim="400000"/>
            </a:ln>
            <a:effectLst/>
          </p:spPr>
        </p:pic>
        <p:sp>
          <p:nvSpPr>
            <p:cNvPr id="76" name="object 4"/>
            <p:cNvSpPr/>
            <p:nvPr/>
          </p:nvSpPr>
          <p:spPr>
            <a:xfrm>
              <a:off x="-1" y="-1"/>
              <a:ext cx="2995922" cy="838195"/>
            </a:xfrm>
            <a:prstGeom prst="rect">
              <a:avLst/>
            </a:prstGeom>
            <a:solidFill>
              <a:srgbClr val="FF3300"/>
            </a:solidFill>
            <a:ln w="12700" cap="flat">
              <a:noFill/>
              <a:miter lim="400000"/>
            </a:ln>
            <a:effectLst/>
          </p:spPr>
          <p:txBody>
            <a:bodyPr wrap="square" lIns="45719" tIns="45719" rIns="45719" bIns="45719" numCol="1" anchor="t">
              <a:noAutofit/>
            </a:bodyPr>
            <a:lstStyle/>
            <a:p>
              <a:pPr/>
            </a:p>
          </p:txBody>
        </p:sp>
        <p:pic>
          <p:nvPicPr>
            <p:cNvPr id="77" name="object 5" descr="object 5"/>
            <p:cNvPicPr>
              <a:picLocks noChangeAspect="1"/>
            </p:cNvPicPr>
            <p:nvPr/>
          </p:nvPicPr>
          <p:blipFill>
            <a:blip r:embed="rId3">
              <a:extLst/>
            </a:blip>
            <a:stretch>
              <a:fillRect/>
            </a:stretch>
          </p:blipFill>
          <p:spPr>
            <a:xfrm>
              <a:off x="380997" y="190496"/>
              <a:ext cx="2082808" cy="685797"/>
            </a:xfrm>
            <a:prstGeom prst="rect">
              <a:avLst/>
            </a:prstGeom>
            <a:ln w="12700" cap="flat">
              <a:noFill/>
              <a:miter lim="400000"/>
            </a:ln>
            <a:effectLst/>
          </p:spPr>
        </p:pic>
      </p:grpSp>
      <p:sp>
        <p:nvSpPr>
          <p:cNvPr id="79" name="object 6"/>
          <p:cNvSpPr txBox="1"/>
          <p:nvPr>
            <p:ph type="title"/>
          </p:nvPr>
        </p:nvSpPr>
        <p:spPr>
          <a:xfrm>
            <a:off x="546283" y="119878"/>
            <a:ext cx="4144011" cy="581661"/>
          </a:xfrm>
          <a:prstGeom prst="rect">
            <a:avLst/>
          </a:prstGeom>
        </p:spPr>
        <p:txBody>
          <a:bodyPr/>
          <a:lstStyle/>
          <a:p>
            <a:pPr indent="12700">
              <a:spcBef>
                <a:spcPts val="100"/>
              </a:spcBef>
            </a:pPr>
            <a:r>
              <a:t>Table </a:t>
            </a:r>
            <a:r>
              <a:rPr spc="100"/>
              <a:t>of Contents</a:t>
            </a:r>
          </a:p>
        </p:txBody>
      </p:sp>
      <p:sp>
        <p:nvSpPr>
          <p:cNvPr id="80" name="Introduction 1.1 Objectives 1.2 Significance 1.3 Scope…"/>
          <p:cNvSpPr txBox="1"/>
          <p:nvPr>
            <p:ph type="body" idx="1"/>
          </p:nvPr>
        </p:nvSpPr>
        <p:spPr>
          <a:xfrm>
            <a:off x="278700" y="996881"/>
            <a:ext cx="5043171" cy="5413376"/>
          </a:xfrm>
          <a:prstGeom prst="rect">
            <a:avLst/>
          </a:prstGeom>
        </p:spPr>
        <p:txBody>
          <a:bodyPr/>
          <a:lstStyle/>
          <a:p>
            <a:pPr marL="182879" indent="-126999" defTabSz="182880">
              <a:spcBef>
                <a:spcPts val="400"/>
              </a:spcBef>
              <a:buSzPct val="100000"/>
              <a:buFont typeface="Times Roman"/>
              <a:buAutoNum type="arabicPeriod" startAt="1"/>
              <a:defRPr sz="2000">
                <a:latin typeface="Times Roman"/>
                <a:ea typeface="Times Roman"/>
                <a:cs typeface="Times Roman"/>
                <a:sym typeface="Times Roman"/>
              </a:defRPr>
            </a:pPr>
            <a:r>
              <a:t>Introduction</a:t>
            </a:r>
            <a:br/>
            <a:r>
              <a:t>1.1 Objectives</a:t>
            </a:r>
            <a:br/>
            <a:r>
              <a:t>1.2 Significance</a:t>
            </a:r>
            <a:br/>
            <a:r>
              <a:t>1.3 Scope</a:t>
            </a:r>
          </a:p>
          <a:p>
            <a:pPr marL="182879" indent="-126999" defTabSz="182880">
              <a:spcBef>
                <a:spcPts val="400"/>
              </a:spcBef>
              <a:buSzPct val="100000"/>
              <a:buFont typeface="Times Roman"/>
              <a:buAutoNum type="arabicPeriod" startAt="1"/>
              <a:defRPr sz="2000">
                <a:latin typeface="Times Roman"/>
                <a:ea typeface="Times Roman"/>
                <a:cs typeface="Times Roman"/>
                <a:sym typeface="Times Roman"/>
              </a:defRPr>
            </a:pPr>
            <a:r>
              <a:t>Problem Definition and Requirements</a:t>
            </a:r>
            <a:br/>
            <a:r>
              <a:t>2.1 Problem Statement</a:t>
            </a:r>
            <a:br/>
            <a:r>
              <a:t>2.2 Software Requirements</a:t>
            </a:r>
            <a:br/>
            <a:r>
              <a:t>2.3 Data Requirements</a:t>
            </a:r>
          </a:p>
          <a:p>
            <a:pPr marL="182879" indent="-126999" defTabSz="182880">
              <a:spcBef>
                <a:spcPts val="400"/>
              </a:spcBef>
              <a:buSzPct val="100000"/>
              <a:buFont typeface="Times Roman"/>
              <a:buAutoNum type="arabicPeriod" startAt="1"/>
              <a:defRPr sz="2000">
                <a:latin typeface="Times Roman"/>
                <a:ea typeface="Times Roman"/>
                <a:cs typeface="Times Roman"/>
                <a:sym typeface="Times Roman"/>
              </a:defRPr>
            </a:pPr>
            <a:r>
              <a:t>Proposed Design / Methodology</a:t>
            </a:r>
            <a:br/>
            <a:r>
              <a:t>3.1 System Design</a:t>
            </a:r>
            <a:br/>
            <a:r>
              <a:t>3.2 Methodology</a:t>
            </a:r>
            <a:br/>
            <a:r>
              <a:t>3.3 Workflow / Data Flow</a:t>
            </a:r>
            <a:br/>
            <a:r>
              <a:t>3.4 Module Description</a:t>
            </a:r>
          </a:p>
          <a:p>
            <a:pPr marL="182879" indent="-126999" defTabSz="182880">
              <a:spcBef>
                <a:spcPts val="400"/>
              </a:spcBef>
              <a:buSzPct val="100000"/>
              <a:buFont typeface="Times Roman"/>
              <a:buAutoNum type="arabicPeriod" startAt="1"/>
              <a:defRPr sz="2000">
                <a:latin typeface="Times Roman"/>
                <a:ea typeface="Times Roman"/>
                <a:cs typeface="Times Roman"/>
                <a:sym typeface="Times Roman"/>
              </a:defRPr>
            </a:pPr>
            <a:r>
              <a:t>Results</a:t>
            </a:r>
          </a:p>
          <a:p>
            <a:pPr marL="182879" indent="-126999" defTabSz="182880">
              <a:spcBef>
                <a:spcPts val="400"/>
              </a:spcBef>
              <a:buSzPct val="100000"/>
              <a:buFont typeface="Times Roman"/>
              <a:buAutoNum type="arabicPeriod" startAt="1"/>
              <a:defRPr sz="2000">
                <a:latin typeface="Times Roman"/>
                <a:ea typeface="Times Roman"/>
                <a:cs typeface="Times Roman"/>
                <a:sym typeface="Times Roman"/>
              </a:defRPr>
            </a:pPr>
            <a:r>
              <a:t>Conclusion</a:t>
            </a:r>
          </a:p>
          <a:p>
            <a:pPr marL="182879" indent="-126999" defTabSz="182880">
              <a:spcBef>
                <a:spcPts val="400"/>
              </a:spcBef>
              <a:buSzPct val="100000"/>
              <a:buFont typeface="Times Roman"/>
              <a:buAutoNum type="arabicPeriod" startAt="1"/>
              <a:defRPr sz="2000">
                <a:latin typeface="Times Roman"/>
                <a:ea typeface="Times Roman"/>
                <a:cs typeface="Times Roman"/>
                <a:sym typeface="Times Roman"/>
              </a:defRPr>
            </a:pPr>
            <a:r>
              <a:t>References</a:t>
            </a:r>
          </a:p>
          <a:p>
            <a:pPr marL="182880" indent="-182880" defTabSz="182880">
              <a:spcBef>
                <a:spcPts val="400"/>
              </a:spcBef>
              <a:tabLst>
                <a:tab pos="50800" algn="l"/>
                <a:tab pos="177800" algn="l"/>
              </a:tabLst>
              <a:defRPr sz="2000">
                <a:latin typeface="Times Roman"/>
                <a:ea typeface="Times Roman"/>
                <a:cs typeface="Times Roman"/>
                <a:sym typeface="Times Roman"/>
              </a:defRPr>
            </a:pP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 name="object 2"/>
          <p:cNvSpPr/>
          <p:nvPr/>
        </p:nvSpPr>
        <p:spPr>
          <a:xfrm>
            <a:off x="-1" y="-1"/>
            <a:ext cx="9061540" cy="809979"/>
          </a:xfrm>
          <a:prstGeom prst="rect">
            <a:avLst/>
          </a:prstGeom>
          <a:solidFill>
            <a:srgbClr val="FF3300"/>
          </a:solidFill>
          <a:ln w="12700">
            <a:miter lim="400000"/>
          </a:ln>
        </p:spPr>
        <p:txBody>
          <a:bodyPr lIns="45719" rIns="45719"/>
          <a:lstStyle/>
          <a:p>
            <a:pPr/>
          </a:p>
        </p:txBody>
      </p:sp>
      <p:sp>
        <p:nvSpPr>
          <p:cNvPr id="83" name="object 3"/>
          <p:cNvSpPr/>
          <p:nvPr/>
        </p:nvSpPr>
        <p:spPr>
          <a:xfrm>
            <a:off x="-1" y="6705600"/>
            <a:ext cx="9144001" cy="152400"/>
          </a:xfrm>
          <a:prstGeom prst="rect">
            <a:avLst/>
          </a:prstGeom>
          <a:solidFill>
            <a:srgbClr val="FF0000"/>
          </a:solidFill>
          <a:ln w="12700">
            <a:miter lim="400000"/>
          </a:ln>
        </p:spPr>
        <p:txBody>
          <a:bodyPr lIns="45719" rIns="45719"/>
          <a:lstStyle/>
          <a:p>
            <a:pPr/>
          </a:p>
        </p:txBody>
      </p:sp>
      <p:grpSp>
        <p:nvGrpSpPr>
          <p:cNvPr id="87" name="object 4"/>
          <p:cNvGrpSpPr/>
          <p:nvPr/>
        </p:nvGrpSpPr>
        <p:grpSpPr>
          <a:xfrm>
            <a:off x="6146796" y="-1"/>
            <a:ext cx="2995912" cy="876301"/>
            <a:chOff x="0" y="0"/>
            <a:chExt cx="2995911" cy="876299"/>
          </a:xfrm>
        </p:grpSpPr>
        <p:pic>
          <p:nvPicPr>
            <p:cNvPr id="84" name="object 5" descr="object 5"/>
            <p:cNvPicPr>
              <a:picLocks noChangeAspect="1"/>
            </p:cNvPicPr>
            <p:nvPr/>
          </p:nvPicPr>
          <p:blipFill>
            <a:blip r:embed="rId2">
              <a:extLst/>
            </a:blip>
            <a:stretch>
              <a:fillRect/>
            </a:stretch>
          </p:blipFill>
          <p:spPr>
            <a:xfrm>
              <a:off x="406402" y="228599"/>
              <a:ext cx="2057400" cy="638176"/>
            </a:xfrm>
            <a:prstGeom prst="rect">
              <a:avLst/>
            </a:prstGeom>
            <a:ln w="12700" cap="flat">
              <a:noFill/>
              <a:miter lim="400000"/>
            </a:ln>
            <a:effectLst/>
          </p:spPr>
        </p:pic>
        <p:sp>
          <p:nvSpPr>
            <p:cNvPr id="85" name="object 6"/>
            <p:cNvSpPr/>
            <p:nvPr/>
          </p:nvSpPr>
          <p:spPr>
            <a:xfrm>
              <a:off x="-1" y="-1"/>
              <a:ext cx="2995913" cy="838201"/>
            </a:xfrm>
            <a:prstGeom prst="rect">
              <a:avLst/>
            </a:prstGeom>
            <a:solidFill>
              <a:srgbClr val="FF3300"/>
            </a:solidFill>
            <a:ln w="12700" cap="flat">
              <a:noFill/>
              <a:miter lim="400000"/>
            </a:ln>
            <a:effectLst/>
          </p:spPr>
          <p:txBody>
            <a:bodyPr wrap="square" lIns="45719" tIns="45719" rIns="45719" bIns="45719" numCol="1" anchor="t">
              <a:noAutofit/>
            </a:bodyPr>
            <a:lstStyle/>
            <a:p>
              <a:pPr/>
            </a:p>
          </p:txBody>
        </p:sp>
        <p:pic>
          <p:nvPicPr>
            <p:cNvPr id="86" name="object 7" descr="object 7"/>
            <p:cNvPicPr>
              <a:picLocks noChangeAspect="1"/>
            </p:cNvPicPr>
            <p:nvPr/>
          </p:nvPicPr>
          <p:blipFill>
            <a:blip r:embed="rId3">
              <a:extLst/>
            </a:blip>
            <a:stretch>
              <a:fillRect/>
            </a:stretch>
          </p:blipFill>
          <p:spPr>
            <a:xfrm>
              <a:off x="380999" y="190499"/>
              <a:ext cx="2082805" cy="685801"/>
            </a:xfrm>
            <a:prstGeom prst="rect">
              <a:avLst/>
            </a:prstGeom>
            <a:ln w="12700" cap="flat">
              <a:noFill/>
              <a:miter lim="400000"/>
            </a:ln>
            <a:effectLst/>
          </p:spPr>
        </p:pic>
      </p:grpSp>
      <p:sp>
        <p:nvSpPr>
          <p:cNvPr id="88" name="object 8"/>
          <p:cNvSpPr txBox="1"/>
          <p:nvPr>
            <p:ph type="title"/>
          </p:nvPr>
        </p:nvSpPr>
        <p:spPr>
          <a:xfrm>
            <a:off x="165830" y="147319"/>
            <a:ext cx="4144010" cy="581661"/>
          </a:xfrm>
          <a:prstGeom prst="rect">
            <a:avLst/>
          </a:prstGeom>
        </p:spPr>
        <p:txBody>
          <a:bodyPr/>
          <a:lstStyle>
            <a:lvl1pPr indent="12700">
              <a:spcBef>
                <a:spcPts val="100"/>
              </a:spcBef>
              <a:defRPr b="1" spc="100"/>
            </a:lvl1pPr>
          </a:lstStyle>
          <a:p>
            <a:pPr/>
            <a:r>
              <a:t>Introduction</a:t>
            </a:r>
          </a:p>
        </p:txBody>
      </p:sp>
      <p:sp>
        <p:nvSpPr>
          <p:cNvPr id="89" name="object 9"/>
          <p:cNvSpPr txBox="1"/>
          <p:nvPr/>
        </p:nvSpPr>
        <p:spPr>
          <a:xfrm>
            <a:off x="140100" y="1487768"/>
            <a:ext cx="8580757" cy="4572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457200">
              <a:spcBef>
                <a:spcPts val="1200"/>
              </a:spcBef>
              <a:defRPr sz="2300">
                <a:latin typeface="Times Roman"/>
                <a:ea typeface="Times Roman"/>
                <a:cs typeface="Times Roman"/>
                <a:sym typeface="Times Roman"/>
              </a:defRPr>
            </a:pPr>
            <a:r>
              <a:t>With increasing digitalization, most retail and business operations rely on automated systems for efficiency and accuracy. Manual management of shopping data—such as product details, stock information, and billing—often results in errors, delays, and difficulty in retrieving information.</a:t>
            </a:r>
          </a:p>
          <a:p>
            <a:pPr defTabSz="457200">
              <a:spcBef>
                <a:spcPts val="1200"/>
              </a:spcBef>
              <a:defRPr sz="2300">
                <a:latin typeface="Times Roman"/>
                <a:ea typeface="Times Roman"/>
                <a:cs typeface="Times Roman"/>
                <a:sym typeface="Times Roman"/>
              </a:defRPr>
            </a:pPr>
            <a:r>
              <a:t>To address these challenges, the project </a:t>
            </a:r>
            <a:r>
              <a:rPr b="1"/>
              <a:t>“Smart Shop – A Shopping Management System”</a:t>
            </a:r>
            <a:r>
              <a:t> has been developed. It provides an automated platform for storing and managing shopping records in a structured manner. The system improves operational efficiency by supporting quick billing, product updates, and systematic inventory management. It uses modern programming techniques and database concepts to create a smooth workflow that benefits store administrators and users.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 name="1.2 Objectives"/>
          <p:cNvSpPr txBox="1"/>
          <p:nvPr>
            <p:ph type="ctrTitle"/>
          </p:nvPr>
        </p:nvSpPr>
        <p:spPr>
          <a:xfrm>
            <a:off x="116725" y="173018"/>
            <a:ext cx="7772401" cy="1440181"/>
          </a:xfrm>
          <a:prstGeom prst="rect">
            <a:avLst/>
          </a:prstGeom>
        </p:spPr>
        <p:txBody>
          <a:bodyPr/>
          <a:lstStyle>
            <a:lvl1pPr defTabSz="457200">
              <a:defRPr b="1" sz="2800">
                <a:latin typeface="Times Roman"/>
                <a:ea typeface="Times Roman"/>
                <a:cs typeface="Times Roman"/>
                <a:sym typeface="Times Roman"/>
              </a:defRPr>
            </a:lvl1pPr>
          </a:lstStyle>
          <a:p>
            <a:pPr/>
            <a:r>
              <a:t>1.2 Objectives</a:t>
            </a:r>
          </a:p>
        </p:txBody>
      </p:sp>
      <p:sp>
        <p:nvSpPr>
          <p:cNvPr id="92" name="The primary objectives of Smart Shop are:…"/>
          <p:cNvSpPr txBox="1"/>
          <p:nvPr>
            <p:ph type="subTitle" idx="1"/>
          </p:nvPr>
        </p:nvSpPr>
        <p:spPr>
          <a:xfrm>
            <a:off x="199078" y="1096309"/>
            <a:ext cx="8745844" cy="4997292"/>
          </a:xfrm>
          <a:prstGeom prst="rect">
            <a:avLst/>
          </a:prstGeom>
          <a:solidFill>
            <a:srgbClr val="FFFFFF"/>
          </a:solidFill>
          <a:effectLst>
            <a:outerShdw sx="100000" sy="100000" kx="0" ky="0" algn="b" rotWithShape="0" blurRad="38100" dist="23000" dir="5400000">
              <a:srgbClr val="000000">
                <a:alpha val="35000"/>
              </a:srgbClr>
            </a:outerShdw>
          </a:effectLst>
        </p:spPr>
        <p:txBody>
          <a:bodyPr/>
          <a:lstStyle/>
          <a:p>
            <a:pPr defTabSz="886968">
              <a:defRPr sz="2716">
                <a:latin typeface="Calibri"/>
                <a:ea typeface="Calibri"/>
                <a:cs typeface="Calibri"/>
                <a:sym typeface="Calibri"/>
              </a:defRPr>
            </a:pPr>
            <a:r>
              <a:t>The primary objectives of </a:t>
            </a:r>
            <a:r>
              <a:rPr b="1"/>
              <a:t>Smart Shop</a:t>
            </a:r>
            <a:r>
              <a:t> are:</a:t>
            </a:r>
          </a:p>
          <a:p>
            <a:pPr marL="272314" indent="-272314" defTabSz="886968">
              <a:buSzPct val="100000"/>
              <a:buChar char="•"/>
              <a:defRPr sz="2716">
                <a:latin typeface="Calibri"/>
                <a:ea typeface="Calibri"/>
                <a:cs typeface="Calibri"/>
                <a:sym typeface="Calibri"/>
              </a:defRPr>
            </a:pPr>
            <a:r>
              <a:t>To develop an automated platform for managing shopping activities.</a:t>
            </a:r>
          </a:p>
          <a:p>
            <a:pPr marL="272314" indent="-272314" defTabSz="886968">
              <a:buSzPct val="100000"/>
              <a:buChar char="•"/>
              <a:defRPr sz="2716">
                <a:latin typeface="Calibri"/>
                <a:ea typeface="Calibri"/>
                <a:cs typeface="Calibri"/>
                <a:sym typeface="Calibri"/>
              </a:defRPr>
            </a:pPr>
            <a:r>
              <a:t>To simplify product entry, update, deletion, and search operations.</a:t>
            </a:r>
          </a:p>
          <a:p>
            <a:pPr marL="272314" indent="-272314" defTabSz="886968">
              <a:buSzPct val="100000"/>
              <a:buChar char="•"/>
              <a:defRPr sz="2716">
                <a:latin typeface="Calibri"/>
                <a:ea typeface="Calibri"/>
                <a:cs typeface="Calibri"/>
                <a:sym typeface="Calibri"/>
              </a:defRPr>
            </a:pPr>
            <a:r>
              <a:t>To maintain accurate stock and inventory records.</a:t>
            </a:r>
          </a:p>
          <a:p>
            <a:pPr marL="272314" indent="-272314" defTabSz="886968">
              <a:buSzPct val="100000"/>
              <a:buChar char="•"/>
              <a:defRPr sz="2716">
                <a:latin typeface="Calibri"/>
                <a:ea typeface="Calibri"/>
                <a:cs typeface="Calibri"/>
                <a:sym typeface="Calibri"/>
              </a:defRPr>
            </a:pPr>
            <a:r>
              <a:t>To automate billing to reduce human errors.</a:t>
            </a:r>
          </a:p>
          <a:p>
            <a:pPr marL="272314" indent="-272314" defTabSz="886968">
              <a:buSzPct val="100000"/>
              <a:buChar char="•"/>
              <a:defRPr sz="2716">
                <a:latin typeface="Calibri"/>
                <a:ea typeface="Calibri"/>
                <a:cs typeface="Calibri"/>
                <a:sym typeface="Calibri"/>
              </a:defRPr>
            </a:pPr>
            <a:r>
              <a:t>To provide fast and accurate retrieval of data.</a:t>
            </a:r>
          </a:p>
          <a:p>
            <a:pPr marL="272314" indent="-272314" defTabSz="886968">
              <a:buSzPct val="100000"/>
              <a:buChar char="•"/>
              <a:defRPr sz="2716">
                <a:latin typeface="Calibri"/>
                <a:ea typeface="Calibri"/>
                <a:cs typeface="Calibri"/>
                <a:sym typeface="Calibri"/>
              </a:defRPr>
            </a:pPr>
            <a:r>
              <a:t>To create a user-friendly interface that improves the shopping management process.</a:t>
            </a:r>
          </a:p>
          <a:p>
            <a:pPr marL="272314" indent="-272314" defTabSz="886968">
              <a:buSzPct val="100000"/>
              <a:buChar char="•"/>
              <a:defRPr sz="2716">
                <a:latin typeface="Calibri"/>
                <a:ea typeface="Calibri"/>
                <a:cs typeface="Calibri"/>
                <a:sym typeface="Calibri"/>
              </a:defRPr>
            </a:pPr>
            <a:r>
              <a:t>To replace manual paperwork with a digital, systematic record system.</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1.2 Significance"/>
          <p:cNvSpPr txBox="1"/>
          <p:nvPr>
            <p:ph type="ctrTitle"/>
          </p:nvPr>
        </p:nvSpPr>
        <p:spPr>
          <a:xfrm>
            <a:off x="142592" y="121284"/>
            <a:ext cx="7772401" cy="1440181"/>
          </a:xfrm>
          <a:prstGeom prst="rect">
            <a:avLst/>
          </a:prstGeom>
        </p:spPr>
        <p:txBody>
          <a:bodyPr/>
          <a:lstStyle>
            <a:lvl1pPr defTabSz="457200">
              <a:defRPr b="1" sz="3000">
                <a:latin typeface="Times Roman"/>
                <a:ea typeface="Times Roman"/>
                <a:cs typeface="Times Roman"/>
                <a:sym typeface="Times Roman"/>
              </a:defRPr>
            </a:lvl1pPr>
          </a:lstStyle>
          <a:p>
            <a:pPr/>
            <a:r>
              <a:t>1.2 Significance</a:t>
            </a:r>
          </a:p>
        </p:txBody>
      </p:sp>
      <p:sp>
        <p:nvSpPr>
          <p:cNvPr id="95" name="The significance of Smart Shop lies in its ability to modernize store management through automation. It helps prevent errors that occur in manual billing or record keeping. The system ensures:…"/>
          <p:cNvSpPr txBox="1"/>
          <p:nvPr>
            <p:ph type="subTitle" idx="1"/>
          </p:nvPr>
        </p:nvSpPr>
        <p:spPr>
          <a:xfrm>
            <a:off x="354095" y="1221737"/>
            <a:ext cx="8435810" cy="5100326"/>
          </a:xfrm>
          <a:prstGeom prst="rect">
            <a:avLst/>
          </a:prstGeom>
        </p:spPr>
        <p:txBody>
          <a:bodyPr/>
          <a:lstStyle/>
          <a:p>
            <a:pPr defTabSz="434340">
              <a:spcBef>
                <a:spcPts val="1100"/>
              </a:spcBef>
              <a:defRPr sz="2185">
                <a:latin typeface="Times Roman"/>
                <a:ea typeface="Times Roman"/>
                <a:cs typeface="Times Roman"/>
                <a:sym typeface="Times Roman"/>
              </a:defRPr>
            </a:pPr>
            <a:r>
              <a:t>The significance of </a:t>
            </a:r>
            <a:r>
              <a:rPr b="1"/>
              <a:t>Smart Shop</a:t>
            </a:r>
            <a:r>
              <a:t> lies in its ability to modernize store management through automation. It helps prevent errors that occur in manual billing or record keeping. The system ensures:</a:t>
            </a:r>
          </a:p>
          <a:p>
            <a:pPr marL="434340" indent="-301625" defTabSz="434340">
              <a:spcBef>
                <a:spcPts val="1100"/>
              </a:spcBef>
              <a:buSzPct val="100000"/>
              <a:buFont typeface="Times Roman"/>
              <a:buChar char="•"/>
              <a:defRPr sz="2185">
                <a:latin typeface="Times Roman"/>
                <a:ea typeface="Times Roman"/>
                <a:cs typeface="Times Roman"/>
                <a:sym typeface="Times Roman"/>
              </a:defRPr>
            </a:pPr>
            <a:r>
              <a:t>Greater accuracy in product and billing records</a:t>
            </a:r>
          </a:p>
          <a:p>
            <a:pPr marL="434340" indent="-301625" defTabSz="434340">
              <a:spcBef>
                <a:spcPts val="1100"/>
              </a:spcBef>
              <a:buSzPct val="100000"/>
              <a:buFont typeface="Times Roman"/>
              <a:buChar char="•"/>
              <a:defRPr sz="2185">
                <a:latin typeface="Times Roman"/>
                <a:ea typeface="Times Roman"/>
                <a:cs typeface="Times Roman"/>
                <a:sym typeface="Times Roman"/>
              </a:defRPr>
            </a:pPr>
            <a:r>
              <a:t>Enhanced speed of operations</a:t>
            </a:r>
          </a:p>
          <a:p>
            <a:pPr marL="434340" indent="-301625" defTabSz="434340">
              <a:spcBef>
                <a:spcPts val="1100"/>
              </a:spcBef>
              <a:buSzPct val="100000"/>
              <a:buFont typeface="Times Roman"/>
              <a:buChar char="•"/>
              <a:defRPr sz="2185">
                <a:latin typeface="Times Roman"/>
                <a:ea typeface="Times Roman"/>
                <a:cs typeface="Times Roman"/>
                <a:sym typeface="Times Roman"/>
              </a:defRPr>
            </a:pPr>
            <a:r>
              <a:t>Better organization of shopping data</a:t>
            </a:r>
          </a:p>
          <a:p>
            <a:pPr marL="434340" indent="-301625" defTabSz="434340">
              <a:spcBef>
                <a:spcPts val="1100"/>
              </a:spcBef>
              <a:buSzPct val="100000"/>
              <a:buFont typeface="Times Roman"/>
              <a:buChar char="•"/>
              <a:defRPr sz="2185">
                <a:latin typeface="Times Roman"/>
                <a:ea typeface="Times Roman"/>
                <a:cs typeface="Times Roman"/>
                <a:sym typeface="Times Roman"/>
              </a:defRPr>
            </a:pPr>
            <a:r>
              <a:t>Quick decision-making through digital tracking</a:t>
            </a:r>
          </a:p>
          <a:p>
            <a:pPr marL="434340" indent="-301625" defTabSz="434340">
              <a:spcBef>
                <a:spcPts val="1100"/>
              </a:spcBef>
              <a:buSzPct val="100000"/>
              <a:buFont typeface="Times Roman"/>
              <a:buChar char="•"/>
              <a:defRPr sz="2185">
                <a:latin typeface="Times Roman"/>
                <a:ea typeface="Times Roman"/>
                <a:cs typeface="Times Roman"/>
                <a:sym typeface="Times Roman"/>
              </a:defRPr>
            </a:pPr>
            <a:r>
              <a:t>Reduced workload for shopkeepers</a:t>
            </a:r>
          </a:p>
          <a:p>
            <a:pPr marL="434340" indent="-301625" defTabSz="434340">
              <a:spcBef>
                <a:spcPts val="1100"/>
              </a:spcBef>
              <a:buSzPct val="100000"/>
              <a:buFont typeface="Times Roman"/>
              <a:buChar char="•"/>
              <a:defRPr sz="2185">
                <a:latin typeface="Times Roman"/>
                <a:ea typeface="Times Roman"/>
                <a:cs typeface="Times Roman"/>
                <a:sym typeface="Times Roman"/>
              </a:defRPr>
            </a:pPr>
            <a:r>
              <a:t>Improved customer satisfaction through faster processing</a:t>
            </a:r>
          </a:p>
          <a:p>
            <a:pPr defTabSz="434340">
              <a:spcBef>
                <a:spcPts val="1100"/>
              </a:spcBef>
              <a:defRPr sz="2185">
                <a:latin typeface="Times Roman"/>
                <a:ea typeface="Times Roman"/>
                <a:cs typeface="Times Roman"/>
                <a:sym typeface="Times Roman"/>
              </a:defRPr>
            </a:pPr>
            <a:r>
              <a:t>Smart Shop supports smooth business operations and ensures long-term data reliability.</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 name="1.3 Scope"/>
          <p:cNvSpPr txBox="1"/>
          <p:nvPr>
            <p:ph type="ctrTitle"/>
          </p:nvPr>
        </p:nvSpPr>
        <p:spPr>
          <a:xfrm>
            <a:off x="116725" y="211818"/>
            <a:ext cx="7772401" cy="1440181"/>
          </a:xfrm>
          <a:prstGeom prst="rect">
            <a:avLst/>
          </a:prstGeom>
        </p:spPr>
        <p:txBody>
          <a:bodyPr/>
          <a:lstStyle>
            <a:lvl1pPr defTabSz="457200">
              <a:defRPr b="1" sz="2900">
                <a:latin typeface="Times Roman"/>
                <a:ea typeface="Times Roman"/>
                <a:cs typeface="Times Roman"/>
                <a:sym typeface="Times Roman"/>
              </a:defRPr>
            </a:lvl1pPr>
          </a:lstStyle>
          <a:p>
            <a:pPr/>
            <a:r>
              <a:t>1.3 Scope</a:t>
            </a:r>
          </a:p>
        </p:txBody>
      </p:sp>
      <p:sp>
        <p:nvSpPr>
          <p:cNvPr id="98" name="The scope of Smart Shop – A Shopping Management System includes:…"/>
          <p:cNvSpPr txBox="1"/>
          <p:nvPr>
            <p:ph type="subTitle" idx="1"/>
          </p:nvPr>
        </p:nvSpPr>
        <p:spPr>
          <a:xfrm>
            <a:off x="233450" y="1149347"/>
            <a:ext cx="8537914" cy="5094950"/>
          </a:xfrm>
          <a:prstGeom prst="rect">
            <a:avLst/>
          </a:prstGeom>
        </p:spPr>
        <p:txBody>
          <a:bodyPr/>
          <a:lstStyle/>
          <a:p>
            <a:pPr defTabSz="434340">
              <a:spcBef>
                <a:spcPts val="1100"/>
              </a:spcBef>
              <a:defRPr b="1" sz="2280">
                <a:latin typeface="Times Roman"/>
                <a:ea typeface="Times Roman"/>
                <a:cs typeface="Times Roman"/>
                <a:sym typeface="Times Roman"/>
              </a:defRPr>
            </a:pPr>
            <a:r>
              <a:rPr b="0"/>
              <a:t>The scope of </a:t>
            </a:r>
            <a:r>
              <a:t>Smart Shop – A Shopping Management System</a:t>
            </a:r>
            <a:r>
              <a:rPr b="0"/>
              <a:t> includes:</a:t>
            </a:r>
            <a:endParaRPr b="0"/>
          </a:p>
          <a:p>
            <a:pPr marL="434340" indent="-301625" defTabSz="434340">
              <a:spcBef>
                <a:spcPts val="1100"/>
              </a:spcBef>
              <a:buSzPct val="100000"/>
              <a:buFont typeface="Times Roman"/>
              <a:buChar char="•"/>
              <a:defRPr sz="2280">
                <a:latin typeface="Times Roman"/>
                <a:ea typeface="Times Roman"/>
                <a:cs typeface="Times Roman"/>
                <a:sym typeface="Times Roman"/>
              </a:defRPr>
            </a:pPr>
            <a:r>
              <a:t>Product management (add, update, delete)</a:t>
            </a:r>
          </a:p>
          <a:p>
            <a:pPr marL="434340" indent="-301625" defTabSz="434340">
              <a:spcBef>
                <a:spcPts val="1100"/>
              </a:spcBef>
              <a:buSzPct val="100000"/>
              <a:buFont typeface="Times Roman"/>
              <a:buChar char="•"/>
              <a:defRPr sz="2280">
                <a:latin typeface="Times Roman"/>
                <a:ea typeface="Times Roman"/>
                <a:cs typeface="Times Roman"/>
                <a:sym typeface="Times Roman"/>
              </a:defRPr>
            </a:pPr>
            <a:r>
              <a:t>Billing and purchase calculation</a:t>
            </a:r>
          </a:p>
          <a:p>
            <a:pPr marL="434340" indent="-301625" defTabSz="434340">
              <a:spcBef>
                <a:spcPts val="1100"/>
              </a:spcBef>
              <a:buSzPct val="100000"/>
              <a:buFont typeface="Times Roman"/>
              <a:buChar char="•"/>
              <a:defRPr sz="2280">
                <a:latin typeface="Times Roman"/>
                <a:ea typeface="Times Roman"/>
                <a:cs typeface="Times Roman"/>
                <a:sym typeface="Times Roman"/>
              </a:defRPr>
            </a:pPr>
            <a:r>
              <a:t>Maintaining stock/inventory levels</a:t>
            </a:r>
          </a:p>
          <a:p>
            <a:pPr marL="434340" indent="-301625" defTabSz="434340">
              <a:spcBef>
                <a:spcPts val="1100"/>
              </a:spcBef>
              <a:buSzPct val="100000"/>
              <a:buFont typeface="Times Roman"/>
              <a:buChar char="•"/>
              <a:defRPr sz="2280">
                <a:latin typeface="Times Roman"/>
                <a:ea typeface="Times Roman"/>
                <a:cs typeface="Times Roman"/>
                <a:sym typeface="Times Roman"/>
              </a:defRPr>
            </a:pPr>
            <a:r>
              <a:t>Displaying available items</a:t>
            </a:r>
          </a:p>
          <a:p>
            <a:pPr marL="434340" indent="-301625" defTabSz="434340">
              <a:spcBef>
                <a:spcPts val="1100"/>
              </a:spcBef>
              <a:buSzPct val="100000"/>
              <a:buFont typeface="Times Roman"/>
              <a:buChar char="•"/>
              <a:defRPr sz="2280">
                <a:latin typeface="Times Roman"/>
                <a:ea typeface="Times Roman"/>
                <a:cs typeface="Times Roman"/>
                <a:sym typeface="Times Roman"/>
              </a:defRPr>
            </a:pPr>
            <a:r>
              <a:t>Organizing data in a structured format</a:t>
            </a:r>
          </a:p>
          <a:p>
            <a:pPr marL="434340" indent="-301625" defTabSz="434340">
              <a:spcBef>
                <a:spcPts val="1100"/>
              </a:spcBef>
              <a:buSzPct val="100000"/>
              <a:buFont typeface="Times Roman"/>
              <a:buChar char="•"/>
              <a:defRPr sz="2280">
                <a:latin typeface="Times Roman"/>
                <a:ea typeface="Times Roman"/>
                <a:cs typeface="Times Roman"/>
                <a:sym typeface="Times Roman"/>
              </a:defRPr>
            </a:pPr>
            <a:r>
              <a:t>Providing easy navigation for users</a:t>
            </a:r>
          </a:p>
          <a:p>
            <a:pPr defTabSz="434340">
              <a:spcBef>
                <a:spcPts val="1100"/>
              </a:spcBef>
              <a:defRPr sz="2280">
                <a:latin typeface="Times Roman"/>
                <a:ea typeface="Times Roman"/>
                <a:cs typeface="Times Roman"/>
                <a:sym typeface="Times Roman"/>
              </a:defRPr>
            </a:pPr>
            <a:r>
              <a:t>The system is suitable for small businesses, shops, and educational demonstrations. Future upgrades may include online payment integration, customer accounts, or advanced reporting.</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03" name="object 2"/>
          <p:cNvGrpSpPr/>
          <p:nvPr/>
        </p:nvGrpSpPr>
        <p:grpSpPr>
          <a:xfrm>
            <a:off x="6146796" y="-1"/>
            <a:ext cx="2995912" cy="876301"/>
            <a:chOff x="0" y="0"/>
            <a:chExt cx="2995911" cy="876299"/>
          </a:xfrm>
        </p:grpSpPr>
        <p:pic>
          <p:nvPicPr>
            <p:cNvPr id="100" name="object 3" descr="object 3"/>
            <p:cNvPicPr>
              <a:picLocks noChangeAspect="1"/>
            </p:cNvPicPr>
            <p:nvPr/>
          </p:nvPicPr>
          <p:blipFill>
            <a:blip r:embed="rId2">
              <a:extLst/>
            </a:blip>
            <a:stretch>
              <a:fillRect/>
            </a:stretch>
          </p:blipFill>
          <p:spPr>
            <a:xfrm>
              <a:off x="406402" y="228599"/>
              <a:ext cx="2057400" cy="638176"/>
            </a:xfrm>
            <a:prstGeom prst="rect">
              <a:avLst/>
            </a:prstGeom>
            <a:ln w="12700" cap="flat">
              <a:noFill/>
              <a:miter lim="400000"/>
            </a:ln>
            <a:effectLst/>
          </p:spPr>
        </p:pic>
        <p:sp>
          <p:nvSpPr>
            <p:cNvPr id="101" name="object 4"/>
            <p:cNvSpPr/>
            <p:nvPr/>
          </p:nvSpPr>
          <p:spPr>
            <a:xfrm>
              <a:off x="-1" y="-1"/>
              <a:ext cx="2995913" cy="838201"/>
            </a:xfrm>
            <a:prstGeom prst="rect">
              <a:avLst/>
            </a:prstGeom>
            <a:solidFill>
              <a:srgbClr val="FF3300"/>
            </a:solidFill>
            <a:ln w="12700" cap="flat">
              <a:noFill/>
              <a:miter lim="400000"/>
            </a:ln>
            <a:effectLst/>
          </p:spPr>
          <p:txBody>
            <a:bodyPr wrap="square" lIns="45719" tIns="45719" rIns="45719" bIns="45719" numCol="1" anchor="t">
              <a:noAutofit/>
            </a:bodyPr>
            <a:lstStyle/>
            <a:p>
              <a:pPr/>
            </a:p>
          </p:txBody>
        </p:sp>
        <p:pic>
          <p:nvPicPr>
            <p:cNvPr id="102" name="object 5" descr="object 5"/>
            <p:cNvPicPr>
              <a:picLocks noChangeAspect="1"/>
            </p:cNvPicPr>
            <p:nvPr/>
          </p:nvPicPr>
          <p:blipFill>
            <a:blip r:embed="rId3">
              <a:extLst/>
            </a:blip>
            <a:stretch>
              <a:fillRect/>
            </a:stretch>
          </p:blipFill>
          <p:spPr>
            <a:xfrm>
              <a:off x="380999" y="190499"/>
              <a:ext cx="2082805" cy="685801"/>
            </a:xfrm>
            <a:prstGeom prst="rect">
              <a:avLst/>
            </a:prstGeom>
            <a:ln w="12700" cap="flat">
              <a:noFill/>
              <a:miter lim="400000"/>
            </a:ln>
            <a:effectLst/>
          </p:spPr>
        </p:pic>
      </p:grpSp>
      <p:sp>
        <p:nvSpPr>
          <p:cNvPr id="104" name="TextBox 12"/>
          <p:cNvSpPr txBox="1"/>
          <p:nvPr/>
        </p:nvSpPr>
        <p:spPr>
          <a:xfrm>
            <a:off x="237918" y="1151033"/>
            <a:ext cx="8326961" cy="4866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sz="2700">
                <a:latin typeface="Times Roman"/>
                <a:ea typeface="Times Roman"/>
                <a:cs typeface="Times Roman"/>
                <a:sym typeface="Times Roman"/>
              </a:defRPr>
            </a:pPr>
            <a:r>
              <a:t>Retail stores often rely on manual methods for recording product details, preparing bills, and maintaining inventory. Such methods are slow, difficult to manage, and prone to mistakes. There is no efficient way to update stock or verify product details instantly. This creates inconvenience for shopkeepers and reduces the overall efficiency of the shop.</a:t>
            </a:r>
          </a:p>
          <a:p>
            <a:pPr defTabSz="457200">
              <a:spcBef>
                <a:spcPts val="1200"/>
              </a:spcBef>
              <a:defRPr sz="2700">
                <a:latin typeface="Times Roman"/>
                <a:ea typeface="Times Roman"/>
                <a:cs typeface="Times Roman"/>
                <a:sym typeface="Times Roman"/>
              </a:defRPr>
            </a:pPr>
            <a:r>
              <a:t>The </a:t>
            </a:r>
            <a:r>
              <a:rPr b="1"/>
              <a:t>Smart Shop</a:t>
            </a:r>
            <a:r>
              <a:t> system aims to solve these issues by automating the entire process. The system offers an easy and accurate way to handle product records, generate bills, and maintain inventory seamlessly.</a:t>
            </a:r>
          </a:p>
        </p:txBody>
      </p:sp>
      <p:sp>
        <p:nvSpPr>
          <p:cNvPr id="105" name="2. Problem Definition &amp; Requirements"/>
          <p:cNvSpPr txBox="1"/>
          <p:nvPr/>
        </p:nvSpPr>
        <p:spPr>
          <a:xfrm>
            <a:off x="89188" y="12876"/>
            <a:ext cx="5548894" cy="458413"/>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2600">
                <a:latin typeface="Times New Roman"/>
                <a:ea typeface="Times New Roman"/>
                <a:cs typeface="Times New Roman"/>
                <a:sym typeface="Times New Roman"/>
              </a:defRPr>
            </a:lvl1pPr>
          </a:lstStyle>
          <a:p>
            <a:pPr/>
            <a:r>
              <a:t>2. Problem Definition &amp; Requirements</a:t>
            </a:r>
          </a:p>
        </p:txBody>
      </p:sp>
      <p:sp>
        <p:nvSpPr>
          <p:cNvPr id="106" name="2.1 Problem statement"/>
          <p:cNvSpPr txBox="1"/>
          <p:nvPr/>
        </p:nvSpPr>
        <p:spPr>
          <a:xfrm>
            <a:off x="150210" y="507616"/>
            <a:ext cx="2821719" cy="38537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200"/>
            </a:lvl1pPr>
          </a:lstStyle>
          <a:p>
            <a:pPr/>
            <a:r>
              <a:t>2.1 Problem statement</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8" name="object 2"/>
          <p:cNvSpPr/>
          <p:nvPr/>
        </p:nvSpPr>
        <p:spPr>
          <a:xfrm>
            <a:off x="-1" y="-1"/>
            <a:ext cx="9143995" cy="838198"/>
          </a:xfrm>
          <a:prstGeom prst="rect">
            <a:avLst/>
          </a:prstGeom>
          <a:solidFill>
            <a:srgbClr val="FF3300"/>
          </a:solidFill>
          <a:ln w="12700">
            <a:miter lim="400000"/>
          </a:ln>
        </p:spPr>
        <p:txBody>
          <a:bodyPr lIns="45719" rIns="45719"/>
          <a:lstStyle/>
          <a:p>
            <a:pPr/>
          </a:p>
        </p:txBody>
      </p:sp>
      <p:sp>
        <p:nvSpPr>
          <p:cNvPr id="109" name="object 3"/>
          <p:cNvSpPr/>
          <p:nvPr/>
        </p:nvSpPr>
        <p:spPr>
          <a:xfrm>
            <a:off x="-1" y="6705593"/>
            <a:ext cx="9143995" cy="152401"/>
          </a:xfrm>
          <a:prstGeom prst="rect">
            <a:avLst/>
          </a:prstGeom>
          <a:solidFill>
            <a:srgbClr val="FF0000"/>
          </a:solidFill>
          <a:ln w="12700">
            <a:miter lim="400000"/>
          </a:ln>
        </p:spPr>
        <p:txBody>
          <a:bodyPr lIns="45719" rIns="45719"/>
          <a:lstStyle/>
          <a:p>
            <a:pPr/>
          </a:p>
        </p:txBody>
      </p:sp>
      <p:grpSp>
        <p:nvGrpSpPr>
          <p:cNvPr id="113" name="object 4"/>
          <p:cNvGrpSpPr/>
          <p:nvPr/>
        </p:nvGrpSpPr>
        <p:grpSpPr>
          <a:xfrm>
            <a:off x="6146796" y="-1"/>
            <a:ext cx="2995912" cy="876301"/>
            <a:chOff x="0" y="0"/>
            <a:chExt cx="2995911" cy="876299"/>
          </a:xfrm>
        </p:grpSpPr>
        <p:pic>
          <p:nvPicPr>
            <p:cNvPr id="110" name="object 5" descr="object 5"/>
            <p:cNvPicPr>
              <a:picLocks noChangeAspect="1"/>
            </p:cNvPicPr>
            <p:nvPr/>
          </p:nvPicPr>
          <p:blipFill>
            <a:blip r:embed="rId2">
              <a:extLst/>
            </a:blip>
            <a:stretch>
              <a:fillRect/>
            </a:stretch>
          </p:blipFill>
          <p:spPr>
            <a:xfrm>
              <a:off x="406402" y="228599"/>
              <a:ext cx="2057400" cy="638176"/>
            </a:xfrm>
            <a:prstGeom prst="rect">
              <a:avLst/>
            </a:prstGeom>
            <a:ln w="12700" cap="flat">
              <a:noFill/>
              <a:miter lim="400000"/>
            </a:ln>
            <a:effectLst/>
          </p:spPr>
        </p:pic>
        <p:sp>
          <p:nvSpPr>
            <p:cNvPr id="111" name="object 6"/>
            <p:cNvSpPr/>
            <p:nvPr/>
          </p:nvSpPr>
          <p:spPr>
            <a:xfrm>
              <a:off x="-1" y="-1"/>
              <a:ext cx="2995913" cy="838201"/>
            </a:xfrm>
            <a:prstGeom prst="rect">
              <a:avLst/>
            </a:prstGeom>
            <a:solidFill>
              <a:srgbClr val="FF3300"/>
            </a:solidFill>
            <a:ln w="12700" cap="flat">
              <a:noFill/>
              <a:miter lim="400000"/>
            </a:ln>
            <a:effectLst/>
          </p:spPr>
          <p:txBody>
            <a:bodyPr wrap="square" lIns="45719" tIns="45719" rIns="45719" bIns="45719" numCol="1" anchor="t">
              <a:noAutofit/>
            </a:bodyPr>
            <a:lstStyle/>
            <a:p>
              <a:pPr/>
            </a:p>
          </p:txBody>
        </p:sp>
        <p:pic>
          <p:nvPicPr>
            <p:cNvPr id="112" name="object 7" descr="object 7"/>
            <p:cNvPicPr>
              <a:picLocks noChangeAspect="1"/>
            </p:cNvPicPr>
            <p:nvPr/>
          </p:nvPicPr>
          <p:blipFill>
            <a:blip r:embed="rId3">
              <a:extLst/>
            </a:blip>
            <a:stretch>
              <a:fillRect/>
            </a:stretch>
          </p:blipFill>
          <p:spPr>
            <a:xfrm>
              <a:off x="380999" y="190499"/>
              <a:ext cx="2082805" cy="685801"/>
            </a:xfrm>
            <a:prstGeom prst="rect">
              <a:avLst/>
            </a:prstGeom>
            <a:ln w="12700" cap="flat">
              <a:noFill/>
              <a:miter lim="400000"/>
            </a:ln>
            <a:effectLst/>
          </p:spPr>
        </p:pic>
      </p:grpSp>
      <p:sp>
        <p:nvSpPr>
          <p:cNvPr id="114" name="TextBox 10"/>
          <p:cNvSpPr txBox="1"/>
          <p:nvPr/>
        </p:nvSpPr>
        <p:spPr>
          <a:xfrm>
            <a:off x="159319" y="874429"/>
            <a:ext cx="8366759" cy="579493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400"/>
              </a:spcBef>
              <a:defRPr b="1">
                <a:latin typeface="Times Roman"/>
                <a:ea typeface="Times Roman"/>
                <a:cs typeface="Times Roman"/>
                <a:sym typeface="Times Roman"/>
              </a:defRPr>
            </a:pPr>
            <a:r>
              <a:t>Programming Languages Used:</a:t>
            </a:r>
          </a:p>
          <a:p>
            <a:pPr marL="457200" indent="-317500" defTabSz="457200">
              <a:spcBef>
                <a:spcPts val="1200"/>
              </a:spcBef>
              <a:buSzPct val="100000"/>
              <a:buFont typeface="Times Roman"/>
              <a:buChar char="•"/>
              <a:defRPr>
                <a:latin typeface="Times Roman"/>
                <a:ea typeface="Times Roman"/>
                <a:cs typeface="Times Roman"/>
                <a:sym typeface="Times Roman"/>
              </a:defRPr>
            </a:pPr>
            <a:r>
              <a:rPr b="1"/>
              <a:t>Java</a:t>
            </a:r>
            <a:r>
              <a:t> – Backend logic, data processing, file handling</a:t>
            </a:r>
          </a:p>
          <a:p>
            <a:pPr marL="457200" indent="-317500" defTabSz="457200">
              <a:spcBef>
                <a:spcPts val="1200"/>
              </a:spcBef>
              <a:buSzPct val="100000"/>
              <a:buFont typeface="Times Roman"/>
              <a:buChar char="•"/>
              <a:defRPr>
                <a:latin typeface="Times Roman"/>
                <a:ea typeface="Times Roman"/>
                <a:cs typeface="Times Roman"/>
                <a:sym typeface="Times Roman"/>
              </a:defRPr>
            </a:pPr>
            <a:r>
              <a:rPr b="1"/>
              <a:t>JavaScript</a:t>
            </a:r>
            <a:r>
              <a:t> – Frontend functionality</a:t>
            </a:r>
          </a:p>
          <a:p>
            <a:pPr marL="457200" indent="-317500" defTabSz="457200">
              <a:spcBef>
                <a:spcPts val="1200"/>
              </a:spcBef>
              <a:buSzPct val="100000"/>
              <a:buFont typeface="Times Roman"/>
              <a:buChar char="•"/>
              <a:defRPr>
                <a:latin typeface="Times Roman"/>
                <a:ea typeface="Times Roman"/>
                <a:cs typeface="Times Roman"/>
                <a:sym typeface="Times Roman"/>
              </a:defRPr>
            </a:pPr>
            <a:r>
              <a:rPr b="1"/>
              <a:t>React.js</a:t>
            </a:r>
            <a:r>
              <a:t> – Component-based frontend framework for UI</a:t>
            </a:r>
          </a:p>
          <a:p>
            <a:pPr marL="457200" indent="-317500" defTabSz="457200">
              <a:spcBef>
                <a:spcPts val="1200"/>
              </a:spcBef>
              <a:buSzPct val="100000"/>
              <a:buFont typeface="Times Roman"/>
              <a:buChar char="•"/>
              <a:defRPr>
                <a:latin typeface="Times Roman"/>
                <a:ea typeface="Times Roman"/>
                <a:cs typeface="Times Roman"/>
                <a:sym typeface="Times Roman"/>
              </a:defRPr>
            </a:pPr>
            <a:r>
              <a:rPr b="1"/>
              <a:t>HTML5</a:t>
            </a:r>
            <a:r>
              <a:t> – Webpage structure</a:t>
            </a:r>
          </a:p>
          <a:p>
            <a:pPr marL="457200" indent="-317500" defTabSz="457200">
              <a:spcBef>
                <a:spcPts val="1200"/>
              </a:spcBef>
              <a:buSzPct val="100000"/>
              <a:buFont typeface="Times Roman"/>
              <a:buChar char="•"/>
              <a:defRPr>
                <a:latin typeface="Times Roman"/>
                <a:ea typeface="Times Roman"/>
                <a:cs typeface="Times Roman"/>
                <a:sym typeface="Times Roman"/>
              </a:defRPr>
            </a:pPr>
            <a:r>
              <a:rPr b="1"/>
              <a:t>CSS3</a:t>
            </a:r>
            <a:r>
              <a:t> – Styling and layout</a:t>
            </a:r>
          </a:p>
          <a:p>
            <a:pPr defTabSz="457200">
              <a:spcBef>
                <a:spcPts val="1400"/>
              </a:spcBef>
              <a:defRPr b="1">
                <a:latin typeface="Times Roman"/>
                <a:ea typeface="Times Roman"/>
                <a:cs typeface="Times Roman"/>
                <a:sym typeface="Times Roman"/>
              </a:defRPr>
            </a:pPr>
            <a:r>
              <a:t>IDE / Code Editors:</a:t>
            </a:r>
          </a:p>
          <a:p>
            <a:pPr marL="457200" indent="-317500" defTabSz="457200">
              <a:spcBef>
                <a:spcPts val="1200"/>
              </a:spcBef>
              <a:buSzPct val="100000"/>
              <a:buFont typeface="Times Roman"/>
              <a:buChar char="•"/>
              <a:defRPr>
                <a:latin typeface="Times Roman"/>
                <a:ea typeface="Times Roman"/>
                <a:cs typeface="Times Roman"/>
                <a:sym typeface="Times Roman"/>
              </a:defRPr>
            </a:pPr>
            <a:r>
              <a:rPr b="1"/>
              <a:t>VS Code</a:t>
            </a:r>
            <a:r>
              <a:t> – For React, JavaScript, HTML, CSS</a:t>
            </a:r>
          </a:p>
          <a:p>
            <a:pPr marL="457200" indent="-317500" defTabSz="457200">
              <a:spcBef>
                <a:spcPts val="1200"/>
              </a:spcBef>
              <a:buSzPct val="100000"/>
              <a:buFont typeface="Times Roman"/>
              <a:buChar char="•"/>
              <a:defRPr b="1">
                <a:latin typeface="Times Roman"/>
                <a:ea typeface="Times Roman"/>
                <a:cs typeface="Times Roman"/>
                <a:sym typeface="Times Roman"/>
              </a:defRPr>
            </a:pPr>
            <a:r>
              <a:t>IntelliJ / Eclipse / VS Code</a:t>
            </a:r>
            <a:r>
              <a:rPr b="0"/>
              <a:t> – For Java development</a:t>
            </a:r>
          </a:p>
          <a:p>
            <a:pPr defTabSz="457200">
              <a:spcBef>
                <a:spcPts val="1400"/>
              </a:spcBef>
              <a:defRPr b="1">
                <a:latin typeface="Times Roman"/>
                <a:ea typeface="Times Roman"/>
                <a:cs typeface="Times Roman"/>
                <a:sym typeface="Times Roman"/>
              </a:defRPr>
            </a:pPr>
            <a:r>
              <a:t>Framework / Libraries:</a:t>
            </a:r>
          </a:p>
          <a:p>
            <a:pPr marL="457200" indent="-317500" defTabSz="457200">
              <a:spcBef>
                <a:spcPts val="1200"/>
              </a:spcBef>
              <a:buSzPct val="100000"/>
              <a:buFont typeface="Times Roman"/>
              <a:buChar char="•"/>
              <a:defRPr b="1">
                <a:latin typeface="Times Roman"/>
                <a:ea typeface="Times Roman"/>
                <a:cs typeface="Times Roman"/>
                <a:sym typeface="Times Roman"/>
              </a:defRPr>
            </a:pPr>
            <a:r>
              <a:t>React.js (Frontend framework)</a:t>
            </a:r>
            <a:endParaRPr b="0"/>
          </a:p>
          <a:p>
            <a:pPr marL="457200" indent="-317500" defTabSz="457200">
              <a:spcBef>
                <a:spcPts val="1200"/>
              </a:spcBef>
              <a:buSzPct val="100000"/>
              <a:buFont typeface="Times Roman"/>
              <a:buChar char="•"/>
              <a:defRPr>
                <a:latin typeface="Times Roman"/>
                <a:ea typeface="Times Roman"/>
                <a:cs typeface="Times Roman"/>
                <a:sym typeface="Times Roman"/>
              </a:defRPr>
            </a:pPr>
            <a:r>
              <a:rPr b="1"/>
              <a:t>Node.js + npm</a:t>
            </a:r>
            <a:r>
              <a:t> (For running React and managing packages)</a:t>
            </a:r>
          </a:p>
          <a:p>
            <a:pPr marL="457200" indent="-317500" defTabSz="457200">
              <a:spcBef>
                <a:spcPts val="1200"/>
              </a:spcBef>
              <a:buSzPct val="100000"/>
              <a:buFont typeface="Times Roman"/>
              <a:buChar char="•"/>
              <a:defRPr>
                <a:latin typeface="Times Roman"/>
                <a:ea typeface="Times Roman"/>
                <a:cs typeface="Times Roman"/>
                <a:sym typeface="Times Roman"/>
              </a:defRPr>
            </a:pPr>
            <a:r>
              <a:rPr b="1"/>
              <a:t>Java I/O Libraries</a:t>
            </a:r>
            <a:r>
              <a:t> (For file handling in Java)</a:t>
            </a:r>
          </a:p>
        </p:txBody>
      </p:sp>
      <p:sp>
        <p:nvSpPr>
          <p:cNvPr id="115" name="2.2 Software Requirements"/>
          <p:cNvSpPr txBox="1"/>
          <p:nvPr/>
        </p:nvSpPr>
        <p:spPr>
          <a:xfrm>
            <a:off x="48693" y="189229"/>
            <a:ext cx="4063230" cy="497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spcBef>
                <a:spcPts val="1200"/>
              </a:spcBef>
              <a:defRPr b="1" sz="2700">
                <a:latin typeface="Times Roman"/>
                <a:ea typeface="Times Roman"/>
                <a:cs typeface="Times Roman"/>
                <a:sym typeface="Times Roman"/>
              </a:defRPr>
            </a:lvl1pPr>
          </a:lstStyle>
          <a:p>
            <a:pPr/>
            <a:r>
              <a:t>2.2 Software Requirements</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20" name="object 2"/>
          <p:cNvGrpSpPr/>
          <p:nvPr/>
        </p:nvGrpSpPr>
        <p:grpSpPr>
          <a:xfrm>
            <a:off x="6146796" y="-1"/>
            <a:ext cx="2995912" cy="876301"/>
            <a:chOff x="0" y="0"/>
            <a:chExt cx="2995911" cy="876299"/>
          </a:xfrm>
        </p:grpSpPr>
        <p:pic>
          <p:nvPicPr>
            <p:cNvPr id="117" name="object 3" descr="object 3"/>
            <p:cNvPicPr>
              <a:picLocks noChangeAspect="1"/>
            </p:cNvPicPr>
            <p:nvPr/>
          </p:nvPicPr>
          <p:blipFill>
            <a:blip r:embed="rId2">
              <a:extLst/>
            </a:blip>
            <a:stretch>
              <a:fillRect/>
            </a:stretch>
          </p:blipFill>
          <p:spPr>
            <a:xfrm>
              <a:off x="406402" y="228599"/>
              <a:ext cx="2057400" cy="638176"/>
            </a:xfrm>
            <a:prstGeom prst="rect">
              <a:avLst/>
            </a:prstGeom>
            <a:ln w="12700" cap="flat">
              <a:noFill/>
              <a:miter lim="400000"/>
            </a:ln>
            <a:effectLst/>
          </p:spPr>
        </p:pic>
        <p:sp>
          <p:nvSpPr>
            <p:cNvPr id="118" name="object 4"/>
            <p:cNvSpPr/>
            <p:nvPr/>
          </p:nvSpPr>
          <p:spPr>
            <a:xfrm>
              <a:off x="-1" y="-1"/>
              <a:ext cx="2995913" cy="838201"/>
            </a:xfrm>
            <a:prstGeom prst="rect">
              <a:avLst/>
            </a:prstGeom>
            <a:solidFill>
              <a:srgbClr val="FF3300"/>
            </a:solidFill>
            <a:ln w="12700" cap="flat">
              <a:noFill/>
              <a:miter lim="400000"/>
            </a:ln>
            <a:effectLst/>
          </p:spPr>
          <p:txBody>
            <a:bodyPr wrap="square" lIns="45719" tIns="45719" rIns="45719" bIns="45719" numCol="1" anchor="t">
              <a:noAutofit/>
            </a:bodyPr>
            <a:lstStyle/>
            <a:p>
              <a:pPr/>
            </a:p>
          </p:txBody>
        </p:sp>
        <p:pic>
          <p:nvPicPr>
            <p:cNvPr id="119" name="object 5" descr="object 5"/>
            <p:cNvPicPr>
              <a:picLocks noChangeAspect="1"/>
            </p:cNvPicPr>
            <p:nvPr/>
          </p:nvPicPr>
          <p:blipFill>
            <a:blip r:embed="rId3">
              <a:extLst/>
            </a:blip>
            <a:stretch>
              <a:fillRect/>
            </a:stretch>
          </p:blipFill>
          <p:spPr>
            <a:xfrm>
              <a:off x="380999" y="190499"/>
              <a:ext cx="2082805" cy="685801"/>
            </a:xfrm>
            <a:prstGeom prst="rect">
              <a:avLst/>
            </a:prstGeom>
            <a:ln w="12700" cap="flat">
              <a:noFill/>
              <a:miter lim="400000"/>
            </a:ln>
            <a:effectLst/>
          </p:spPr>
        </p:pic>
      </p:grpSp>
      <p:sp>
        <p:nvSpPr>
          <p:cNvPr id="121" name="TextBox 16"/>
          <p:cNvSpPr txBox="1"/>
          <p:nvPr/>
        </p:nvSpPr>
        <p:spPr>
          <a:xfrm>
            <a:off x="74662" y="819661"/>
            <a:ext cx="6982278" cy="2758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sz="2100">
                <a:latin typeface="Times Roman"/>
                <a:ea typeface="Times Roman"/>
                <a:cs typeface="Times Roman"/>
                <a:sym typeface="Times Roman"/>
              </a:defRPr>
            </a:pPr>
            <a:r>
              <a:t>Smart Shop uses structured data such as:</a:t>
            </a:r>
          </a:p>
          <a:p>
            <a:pPr marL="457200" indent="-317500" defTabSz="457200">
              <a:spcBef>
                <a:spcPts val="1200"/>
              </a:spcBef>
              <a:buSzPct val="100000"/>
              <a:buFont typeface="Times Roman"/>
              <a:buChar char="•"/>
              <a:defRPr sz="2100">
                <a:latin typeface="Times Roman"/>
                <a:ea typeface="Times Roman"/>
                <a:cs typeface="Times Roman"/>
                <a:sym typeface="Times Roman"/>
              </a:defRPr>
            </a:pPr>
            <a:r>
              <a:t>Product name</a:t>
            </a:r>
          </a:p>
          <a:p>
            <a:pPr marL="457200" indent="-317500" defTabSz="457200">
              <a:spcBef>
                <a:spcPts val="1200"/>
              </a:spcBef>
              <a:buSzPct val="100000"/>
              <a:buFont typeface="Times Roman"/>
              <a:buChar char="•"/>
              <a:defRPr sz="2100">
                <a:latin typeface="Times Roman"/>
                <a:ea typeface="Times Roman"/>
                <a:cs typeface="Times Roman"/>
                <a:sym typeface="Times Roman"/>
              </a:defRPr>
            </a:pPr>
            <a:r>
              <a:t>Product ID</a:t>
            </a:r>
          </a:p>
          <a:p>
            <a:pPr marL="457200" indent="-317500" defTabSz="457200">
              <a:spcBef>
                <a:spcPts val="1200"/>
              </a:spcBef>
              <a:buSzPct val="100000"/>
              <a:buFont typeface="Times Roman"/>
              <a:buChar char="•"/>
              <a:defRPr sz="2100">
                <a:latin typeface="Times Roman"/>
                <a:ea typeface="Times Roman"/>
                <a:cs typeface="Times Roman"/>
                <a:sym typeface="Times Roman"/>
              </a:defRPr>
            </a:pPr>
            <a:r>
              <a:t>Price</a:t>
            </a:r>
          </a:p>
          <a:p>
            <a:pPr marL="457200" indent="-317500" defTabSz="457200">
              <a:spcBef>
                <a:spcPts val="1200"/>
              </a:spcBef>
              <a:buSzPct val="100000"/>
              <a:buFont typeface="Times Roman"/>
              <a:buChar char="•"/>
              <a:defRPr sz="2100">
                <a:latin typeface="Times Roman"/>
                <a:ea typeface="Times Roman"/>
                <a:cs typeface="Times Roman"/>
                <a:sym typeface="Times Roman"/>
              </a:defRPr>
            </a:pPr>
            <a:r>
              <a:t>Quantity / stock</a:t>
            </a:r>
          </a:p>
          <a:p>
            <a:pPr marL="457200" indent="-317500" defTabSz="457200">
              <a:spcBef>
                <a:spcPts val="1200"/>
              </a:spcBef>
              <a:buSzPct val="100000"/>
              <a:buFont typeface="Times Roman"/>
              <a:buChar char="•"/>
              <a:defRPr sz="2100">
                <a:latin typeface="Times Roman"/>
                <a:ea typeface="Times Roman"/>
                <a:cs typeface="Times Roman"/>
                <a:sym typeface="Times Roman"/>
              </a:defRPr>
            </a:pPr>
            <a:r>
              <a:t>Billing details</a:t>
            </a:r>
          </a:p>
        </p:txBody>
      </p:sp>
      <p:sp>
        <p:nvSpPr>
          <p:cNvPr id="122" name="2.3 Data Requirements"/>
          <p:cNvSpPr txBox="1"/>
          <p:nvPr/>
        </p:nvSpPr>
        <p:spPr>
          <a:xfrm>
            <a:off x="120520" y="201929"/>
            <a:ext cx="3211393" cy="4724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defRPr b="1" sz="2500">
                <a:latin typeface="Times Roman"/>
                <a:ea typeface="Times Roman"/>
                <a:cs typeface="Times Roman"/>
                <a:sym typeface="Times Roman"/>
              </a:defRPr>
            </a:lvl1pPr>
          </a:lstStyle>
          <a:p>
            <a:pPr/>
            <a:r>
              <a:t>2.3 Data Requirements</a:t>
            </a:r>
          </a:p>
        </p:txBody>
      </p:sp>
      <p:pic>
        <p:nvPicPr>
          <p:cNvPr id="123" name="Screenshot 2025-11-19 at 12.08.38 AM.png" descr="Screenshot 2025-11-19 at 12.08.38 AM.png"/>
          <p:cNvPicPr>
            <a:picLocks noChangeAspect="1"/>
          </p:cNvPicPr>
          <p:nvPr/>
        </p:nvPicPr>
        <p:blipFill>
          <a:blip r:embed="rId4">
            <a:extLst/>
          </a:blip>
          <a:stretch>
            <a:fillRect/>
          </a:stretch>
        </p:blipFill>
        <p:spPr>
          <a:xfrm>
            <a:off x="3088765" y="2783623"/>
            <a:ext cx="5990988" cy="3820648"/>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object 2"/>
          <p:cNvSpPr/>
          <p:nvPr/>
        </p:nvSpPr>
        <p:spPr>
          <a:xfrm>
            <a:off x="-1" y="-1"/>
            <a:ext cx="9143995" cy="838198"/>
          </a:xfrm>
          <a:prstGeom prst="rect">
            <a:avLst/>
          </a:prstGeom>
          <a:solidFill>
            <a:srgbClr val="FF3300"/>
          </a:solidFill>
          <a:ln w="12700">
            <a:miter lim="400000"/>
          </a:ln>
        </p:spPr>
        <p:txBody>
          <a:bodyPr lIns="45719" rIns="45719"/>
          <a:lstStyle/>
          <a:p>
            <a:pPr/>
          </a:p>
        </p:txBody>
      </p:sp>
      <p:sp>
        <p:nvSpPr>
          <p:cNvPr id="126" name="object 3"/>
          <p:cNvSpPr/>
          <p:nvPr/>
        </p:nvSpPr>
        <p:spPr>
          <a:xfrm>
            <a:off x="-1" y="6705593"/>
            <a:ext cx="9143995" cy="152401"/>
          </a:xfrm>
          <a:prstGeom prst="rect">
            <a:avLst/>
          </a:prstGeom>
          <a:solidFill>
            <a:srgbClr val="FF0000"/>
          </a:solidFill>
          <a:ln w="12700">
            <a:miter lim="400000"/>
          </a:ln>
        </p:spPr>
        <p:txBody>
          <a:bodyPr lIns="45719" rIns="45719"/>
          <a:lstStyle/>
          <a:p>
            <a:pPr/>
          </a:p>
        </p:txBody>
      </p:sp>
      <p:grpSp>
        <p:nvGrpSpPr>
          <p:cNvPr id="130" name="object 4"/>
          <p:cNvGrpSpPr/>
          <p:nvPr/>
        </p:nvGrpSpPr>
        <p:grpSpPr>
          <a:xfrm>
            <a:off x="6146792" y="-1"/>
            <a:ext cx="2995922" cy="876295"/>
            <a:chOff x="0" y="0"/>
            <a:chExt cx="2995921" cy="876293"/>
          </a:xfrm>
        </p:grpSpPr>
        <p:pic>
          <p:nvPicPr>
            <p:cNvPr id="127" name="object 5" descr="object 5"/>
            <p:cNvPicPr>
              <a:picLocks noChangeAspect="1"/>
            </p:cNvPicPr>
            <p:nvPr/>
          </p:nvPicPr>
          <p:blipFill>
            <a:blip r:embed="rId2">
              <a:extLst/>
            </a:blip>
            <a:stretch>
              <a:fillRect/>
            </a:stretch>
          </p:blipFill>
          <p:spPr>
            <a:xfrm>
              <a:off x="406406" y="228599"/>
              <a:ext cx="2057400" cy="638176"/>
            </a:xfrm>
            <a:prstGeom prst="rect">
              <a:avLst/>
            </a:prstGeom>
            <a:ln w="12700" cap="flat">
              <a:noFill/>
              <a:miter lim="400000"/>
            </a:ln>
            <a:effectLst/>
          </p:spPr>
        </p:pic>
        <p:sp>
          <p:nvSpPr>
            <p:cNvPr id="128" name="object 6"/>
            <p:cNvSpPr/>
            <p:nvPr/>
          </p:nvSpPr>
          <p:spPr>
            <a:xfrm>
              <a:off x="-1" y="-1"/>
              <a:ext cx="2995922" cy="838195"/>
            </a:xfrm>
            <a:prstGeom prst="rect">
              <a:avLst/>
            </a:prstGeom>
            <a:solidFill>
              <a:srgbClr val="FF3300"/>
            </a:solidFill>
            <a:ln w="12700" cap="flat">
              <a:noFill/>
              <a:miter lim="400000"/>
            </a:ln>
            <a:effectLst/>
          </p:spPr>
          <p:txBody>
            <a:bodyPr wrap="square" lIns="45719" tIns="45719" rIns="45719" bIns="45719" numCol="1" anchor="t">
              <a:noAutofit/>
            </a:bodyPr>
            <a:lstStyle/>
            <a:p>
              <a:pPr/>
            </a:p>
          </p:txBody>
        </p:sp>
        <p:pic>
          <p:nvPicPr>
            <p:cNvPr id="129" name="object 7" descr="object 7"/>
            <p:cNvPicPr>
              <a:picLocks noChangeAspect="1"/>
            </p:cNvPicPr>
            <p:nvPr/>
          </p:nvPicPr>
          <p:blipFill>
            <a:blip r:embed="rId3">
              <a:extLst/>
            </a:blip>
            <a:stretch>
              <a:fillRect/>
            </a:stretch>
          </p:blipFill>
          <p:spPr>
            <a:xfrm>
              <a:off x="380997" y="190496"/>
              <a:ext cx="2082808" cy="685797"/>
            </a:xfrm>
            <a:prstGeom prst="rect">
              <a:avLst/>
            </a:prstGeom>
            <a:ln w="12700" cap="flat">
              <a:noFill/>
              <a:miter lim="400000"/>
            </a:ln>
            <a:effectLst/>
          </p:spPr>
        </p:pic>
      </p:grpSp>
      <p:sp>
        <p:nvSpPr>
          <p:cNvPr id="131" name="TextBox 17"/>
          <p:cNvSpPr txBox="1"/>
          <p:nvPr/>
        </p:nvSpPr>
        <p:spPr>
          <a:xfrm>
            <a:off x="295983" y="1111536"/>
            <a:ext cx="7147561" cy="4917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sz="2200">
                <a:latin typeface="Times Roman"/>
                <a:ea typeface="Times Roman"/>
                <a:cs typeface="Times Roman"/>
                <a:sym typeface="Times Roman"/>
              </a:defRPr>
            </a:pPr>
            <a:r>
              <a:t>The </a:t>
            </a:r>
            <a:r>
              <a:rPr b="1"/>
              <a:t>Smart Shop</a:t>
            </a:r>
            <a:r>
              <a:t> system is designed using a modular approach. Each module focuses on a specific part of the shopping management process, ensuring simplicity and clarity.</a:t>
            </a:r>
            <a:br/>
            <a:r>
              <a:t>The system architecture includes:</a:t>
            </a:r>
          </a:p>
          <a:p>
            <a:pPr marL="457200" indent="-317500" defTabSz="457200">
              <a:spcBef>
                <a:spcPts val="1200"/>
              </a:spcBef>
              <a:buSzPct val="100000"/>
              <a:buFont typeface="Times Roman"/>
              <a:buChar char="•"/>
              <a:defRPr sz="2200">
                <a:latin typeface="Times Roman"/>
                <a:ea typeface="Times Roman"/>
                <a:cs typeface="Times Roman"/>
                <a:sym typeface="Times Roman"/>
              </a:defRPr>
            </a:pPr>
            <a:r>
              <a:rPr b="1"/>
              <a:t>Input Module:</a:t>
            </a:r>
            <a:r>
              <a:t> For entering product and billing details</a:t>
            </a:r>
          </a:p>
          <a:p>
            <a:pPr marL="457200" indent="-317500" defTabSz="457200">
              <a:spcBef>
                <a:spcPts val="1200"/>
              </a:spcBef>
              <a:buSzPct val="100000"/>
              <a:buFont typeface="Times Roman"/>
              <a:buChar char="•"/>
              <a:defRPr sz="2200">
                <a:latin typeface="Times Roman"/>
                <a:ea typeface="Times Roman"/>
                <a:cs typeface="Times Roman"/>
                <a:sym typeface="Times Roman"/>
              </a:defRPr>
            </a:pPr>
            <a:r>
              <a:rPr b="1"/>
              <a:t>Processing Module:</a:t>
            </a:r>
            <a:r>
              <a:t> For calculations and logic</a:t>
            </a:r>
          </a:p>
          <a:p>
            <a:pPr marL="457200" indent="-317500" defTabSz="457200">
              <a:spcBef>
                <a:spcPts val="1200"/>
              </a:spcBef>
              <a:buSzPct val="100000"/>
              <a:buFont typeface="Times Roman"/>
              <a:buChar char="•"/>
              <a:defRPr sz="2200">
                <a:latin typeface="Times Roman"/>
                <a:ea typeface="Times Roman"/>
                <a:cs typeface="Times Roman"/>
                <a:sym typeface="Times Roman"/>
              </a:defRPr>
            </a:pPr>
            <a:r>
              <a:rPr b="1"/>
              <a:t>Inventory Module:</a:t>
            </a:r>
            <a:r>
              <a:t> For stock management</a:t>
            </a:r>
          </a:p>
          <a:p>
            <a:pPr marL="457200" indent="-317500" defTabSz="457200">
              <a:spcBef>
                <a:spcPts val="1200"/>
              </a:spcBef>
              <a:buSzPct val="100000"/>
              <a:buFont typeface="Times Roman"/>
              <a:buChar char="•"/>
              <a:defRPr sz="2200">
                <a:latin typeface="Times Roman"/>
                <a:ea typeface="Times Roman"/>
                <a:cs typeface="Times Roman"/>
                <a:sym typeface="Times Roman"/>
              </a:defRPr>
            </a:pPr>
            <a:r>
              <a:rPr b="1"/>
              <a:t>Display Module:</a:t>
            </a:r>
            <a:r>
              <a:t> For showing product lists and results</a:t>
            </a:r>
          </a:p>
          <a:p>
            <a:pPr marL="457200" indent="-317500" defTabSz="457200">
              <a:spcBef>
                <a:spcPts val="1200"/>
              </a:spcBef>
              <a:buSzPct val="100000"/>
              <a:buFont typeface="Times Roman"/>
              <a:buChar char="•"/>
              <a:defRPr sz="2200">
                <a:latin typeface="Times Roman"/>
                <a:ea typeface="Times Roman"/>
                <a:cs typeface="Times Roman"/>
                <a:sym typeface="Times Roman"/>
              </a:defRPr>
            </a:pPr>
            <a:r>
              <a:rPr b="1"/>
              <a:t>Storage Module:</a:t>
            </a:r>
            <a:r>
              <a:t> For maintaining records</a:t>
            </a:r>
          </a:p>
          <a:p>
            <a:pPr defTabSz="457200">
              <a:spcBef>
                <a:spcPts val="1200"/>
              </a:spcBef>
              <a:defRPr sz="2200">
                <a:latin typeface="Times Roman"/>
                <a:ea typeface="Times Roman"/>
                <a:cs typeface="Times Roman"/>
                <a:sym typeface="Times Roman"/>
              </a:defRPr>
            </a:pPr>
            <a:r>
              <a:t>This structure allows efficient workflow and easy maintenance.</a:t>
            </a:r>
          </a:p>
        </p:txBody>
      </p:sp>
      <p:sp>
        <p:nvSpPr>
          <p:cNvPr id="132" name="Proposed Design / Methodology"/>
          <p:cNvSpPr txBox="1"/>
          <p:nvPr/>
        </p:nvSpPr>
        <p:spPr>
          <a:xfrm>
            <a:off x="45914" y="-62920"/>
            <a:ext cx="4565227" cy="497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spcBef>
                <a:spcPts val="1200"/>
              </a:spcBef>
              <a:defRPr b="1" sz="2600">
                <a:latin typeface="Times Roman"/>
                <a:ea typeface="Times Roman"/>
                <a:cs typeface="Times Roman"/>
                <a:sym typeface="Times Roman"/>
              </a:defRPr>
            </a:lvl1pPr>
          </a:lstStyle>
          <a:p>
            <a:pPr/>
            <a:r>
              <a:t>Proposed Design / Methodology</a:t>
            </a:r>
          </a:p>
        </p:txBody>
      </p:sp>
      <p:sp>
        <p:nvSpPr>
          <p:cNvPr id="133" name="3.1 System Design"/>
          <p:cNvSpPr txBox="1"/>
          <p:nvPr/>
        </p:nvSpPr>
        <p:spPr>
          <a:xfrm>
            <a:off x="86375" y="425506"/>
            <a:ext cx="2351656" cy="8026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defTabSz="457200">
              <a:spcBef>
                <a:spcPts val="1200"/>
              </a:spcBef>
              <a:defRPr b="1" sz="2300">
                <a:latin typeface="Times Roman"/>
                <a:ea typeface="Times Roman"/>
                <a:cs typeface="Times Roman"/>
                <a:sym typeface="Times Roman"/>
              </a:defRPr>
            </a:pPr>
            <a:r>
              <a:t>3.1 System Design</a:t>
            </a:r>
            <a:b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Title 1"/>
          <p:cNvSpPr txBox="1"/>
          <p:nvPr>
            <p:ph type="title"/>
          </p:nvPr>
        </p:nvSpPr>
        <p:spPr>
          <a:xfrm>
            <a:off x="67743" y="275081"/>
            <a:ext cx="4144010" cy="492444"/>
          </a:xfrm>
          <a:prstGeom prst="rect">
            <a:avLst/>
          </a:prstGeom>
        </p:spPr>
        <p:txBody>
          <a:bodyPr/>
          <a:lstStyle>
            <a:lvl1pPr>
              <a:defRPr b="1">
                <a:latin typeface="Times Roman"/>
                <a:ea typeface="Times Roman"/>
                <a:cs typeface="Times Roman"/>
                <a:sym typeface="Times Roman"/>
              </a:defRPr>
            </a:lvl1pPr>
          </a:lstStyle>
          <a:p>
            <a:pPr/>
            <a:r>
              <a:t> 3.2 Methodology</a:t>
            </a:r>
          </a:p>
        </p:txBody>
      </p:sp>
      <p:sp>
        <p:nvSpPr>
          <p:cNvPr id="136" name="Rectangle 1"/>
          <p:cNvSpPr txBox="1"/>
          <p:nvPr/>
        </p:nvSpPr>
        <p:spPr>
          <a:xfrm>
            <a:off x="455389" y="1103630"/>
            <a:ext cx="6537961" cy="4650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defTabSz="457200">
              <a:spcBef>
                <a:spcPts val="1200"/>
              </a:spcBef>
              <a:defRPr sz="2100">
                <a:latin typeface="Times Roman"/>
                <a:ea typeface="Times Roman"/>
                <a:cs typeface="Times Roman"/>
                <a:sym typeface="Times Roman"/>
              </a:defRPr>
            </a:pPr>
            <a:r>
              <a:t>The methodology used in developing </a:t>
            </a:r>
            <a:r>
              <a:rPr b="1"/>
              <a:t>Smart Shop</a:t>
            </a:r>
            <a:r>
              <a:t> includes:</a:t>
            </a:r>
          </a:p>
          <a:p>
            <a:pPr marL="457200" indent="-317500" defTabSz="457200">
              <a:spcBef>
                <a:spcPts val="1200"/>
              </a:spcBef>
              <a:buSzPct val="100000"/>
              <a:buFont typeface="Times Roman"/>
              <a:buAutoNum type="arabicPeriod" startAt="1"/>
              <a:defRPr sz="2100">
                <a:latin typeface="Times Roman"/>
                <a:ea typeface="Times Roman"/>
                <a:cs typeface="Times Roman"/>
                <a:sym typeface="Times Roman"/>
              </a:defRPr>
            </a:pPr>
            <a:r>
              <a:rPr b="1"/>
              <a:t>Requirement Analysis</a:t>
            </a:r>
            <a:r>
              <a:t> – Understanding shop management needs</a:t>
            </a:r>
          </a:p>
          <a:p>
            <a:pPr marL="457200" indent="-317500" defTabSz="457200">
              <a:spcBef>
                <a:spcPts val="1200"/>
              </a:spcBef>
              <a:buSzPct val="100000"/>
              <a:buFont typeface="Times Roman"/>
              <a:buAutoNum type="arabicPeriod" startAt="1"/>
              <a:defRPr sz="2100">
                <a:latin typeface="Times Roman"/>
                <a:ea typeface="Times Roman"/>
                <a:cs typeface="Times Roman"/>
                <a:sym typeface="Times Roman"/>
              </a:defRPr>
            </a:pPr>
            <a:r>
              <a:rPr b="1"/>
              <a:t>System Planning</a:t>
            </a:r>
            <a:r>
              <a:t> – Selecting language, tools, and structure</a:t>
            </a:r>
          </a:p>
          <a:p>
            <a:pPr marL="457200" indent="-317500" defTabSz="457200">
              <a:spcBef>
                <a:spcPts val="1200"/>
              </a:spcBef>
              <a:buSzPct val="100000"/>
              <a:buFont typeface="Times Roman"/>
              <a:buAutoNum type="arabicPeriod" startAt="1"/>
              <a:defRPr sz="2100">
                <a:latin typeface="Times Roman"/>
                <a:ea typeface="Times Roman"/>
                <a:cs typeface="Times Roman"/>
                <a:sym typeface="Times Roman"/>
              </a:defRPr>
            </a:pPr>
            <a:r>
              <a:rPr b="1"/>
              <a:t>Design Phase</a:t>
            </a:r>
            <a:r>
              <a:t> – Creating diagrams and logical flow</a:t>
            </a:r>
          </a:p>
          <a:p>
            <a:pPr marL="457200" indent="-317500" defTabSz="457200">
              <a:spcBef>
                <a:spcPts val="1200"/>
              </a:spcBef>
              <a:buSzPct val="100000"/>
              <a:buFont typeface="Times Roman"/>
              <a:buAutoNum type="arabicPeriod" startAt="1"/>
              <a:defRPr sz="2100">
                <a:latin typeface="Times Roman"/>
                <a:ea typeface="Times Roman"/>
                <a:cs typeface="Times Roman"/>
                <a:sym typeface="Times Roman"/>
              </a:defRPr>
            </a:pPr>
            <a:r>
              <a:rPr b="1"/>
              <a:t>Development</a:t>
            </a:r>
            <a:r>
              <a:t> – Writing code for each module</a:t>
            </a:r>
          </a:p>
          <a:p>
            <a:pPr marL="457200" indent="-317500" defTabSz="457200">
              <a:spcBef>
                <a:spcPts val="1200"/>
              </a:spcBef>
              <a:buSzPct val="100000"/>
              <a:buFont typeface="Times Roman"/>
              <a:buAutoNum type="arabicPeriod" startAt="1"/>
              <a:defRPr sz="2100">
                <a:latin typeface="Times Roman"/>
                <a:ea typeface="Times Roman"/>
                <a:cs typeface="Times Roman"/>
                <a:sym typeface="Times Roman"/>
              </a:defRPr>
            </a:pPr>
            <a:r>
              <a:rPr b="1"/>
              <a:t>Testing</a:t>
            </a:r>
            <a:r>
              <a:t> – Checking for accuracy and correcting errors</a:t>
            </a:r>
          </a:p>
          <a:p>
            <a:pPr marL="457200" indent="-317500" defTabSz="457200">
              <a:spcBef>
                <a:spcPts val="1200"/>
              </a:spcBef>
              <a:buSzPct val="100000"/>
              <a:buFont typeface="Times Roman"/>
              <a:buAutoNum type="arabicPeriod" startAt="1"/>
              <a:defRPr sz="2100">
                <a:latin typeface="Times Roman"/>
                <a:ea typeface="Times Roman"/>
                <a:cs typeface="Times Roman"/>
                <a:sym typeface="Times Roman"/>
              </a:defRPr>
            </a:pPr>
            <a:r>
              <a:rPr b="1"/>
              <a:t>Evaluation</a:t>
            </a:r>
            <a:r>
              <a:t> – Ensuring the system meets objectives</a:t>
            </a:r>
          </a:p>
          <a:p>
            <a:pPr defTabSz="457200">
              <a:spcBef>
                <a:spcPts val="1200"/>
              </a:spcBef>
              <a:defRPr sz="2100">
                <a:latin typeface="Times Roman"/>
                <a:ea typeface="Times Roman"/>
                <a:cs typeface="Times Roman"/>
                <a:sym typeface="Times Roman"/>
              </a:defRPr>
            </a:pPr>
            <a:r>
              <a:t>This step-by-step approach ensures reliability and smooth functionality.</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3.3 Workflow / Data Flow"/>
          <p:cNvSpPr txBox="1"/>
          <p:nvPr>
            <p:ph type="ctrTitle"/>
          </p:nvPr>
        </p:nvSpPr>
        <p:spPr>
          <a:xfrm>
            <a:off x="155525" y="211818"/>
            <a:ext cx="7772401" cy="1440181"/>
          </a:xfrm>
          <a:prstGeom prst="rect">
            <a:avLst/>
          </a:prstGeom>
        </p:spPr>
        <p:txBody>
          <a:bodyPr/>
          <a:lstStyle>
            <a:lvl1pPr defTabSz="457200">
              <a:spcBef>
                <a:spcPts val="1200"/>
              </a:spcBef>
              <a:defRPr b="1" sz="2500">
                <a:latin typeface="Times Roman"/>
                <a:ea typeface="Times Roman"/>
                <a:cs typeface="Times Roman"/>
                <a:sym typeface="Times Roman"/>
              </a:defRPr>
            </a:lvl1pPr>
          </a:lstStyle>
          <a:p>
            <a:pPr/>
            <a:r>
              <a:t>3.3 Workflow / Data Flow</a:t>
            </a:r>
          </a:p>
        </p:txBody>
      </p:sp>
      <p:sp>
        <p:nvSpPr>
          <p:cNvPr id="139" name="The workflow of Smart Shop operates in the following manner:…"/>
          <p:cNvSpPr txBox="1"/>
          <p:nvPr>
            <p:ph type="subTitle" idx="1"/>
          </p:nvPr>
        </p:nvSpPr>
        <p:spPr>
          <a:xfrm>
            <a:off x="234915" y="1081244"/>
            <a:ext cx="8475065" cy="4695512"/>
          </a:xfrm>
          <a:prstGeom prst="rect">
            <a:avLst/>
          </a:prstGeom>
        </p:spPr>
        <p:txBody>
          <a:bodyPr/>
          <a:lstStyle/>
          <a:p>
            <a:pPr defTabSz="457200">
              <a:spcBef>
                <a:spcPts val="1200"/>
              </a:spcBef>
              <a:defRPr sz="2300">
                <a:latin typeface="Times Roman"/>
                <a:ea typeface="Times Roman"/>
                <a:cs typeface="Times Roman"/>
                <a:sym typeface="Times Roman"/>
              </a:defRPr>
            </a:pPr>
            <a:r>
              <a:t>The workflow of </a:t>
            </a:r>
            <a:r>
              <a:rPr b="1"/>
              <a:t>Smart Shop</a:t>
            </a:r>
            <a:r>
              <a:t> operates in the following manner:</a:t>
            </a:r>
          </a:p>
          <a:p>
            <a:pPr marL="457200" indent="-317500" defTabSz="457200">
              <a:spcBef>
                <a:spcPts val="1200"/>
              </a:spcBef>
              <a:buSzPct val="100000"/>
              <a:buFont typeface="Times Roman"/>
              <a:buChar char="•"/>
              <a:defRPr sz="2300">
                <a:latin typeface="Times Roman"/>
                <a:ea typeface="Times Roman"/>
                <a:cs typeface="Times Roman"/>
                <a:sym typeface="Times Roman"/>
              </a:defRPr>
            </a:pPr>
            <a:r>
              <a:t>User enters product or billing data</a:t>
            </a:r>
          </a:p>
          <a:p>
            <a:pPr marL="457200" indent="-317500" defTabSz="457200">
              <a:spcBef>
                <a:spcPts val="1200"/>
              </a:spcBef>
              <a:buSzPct val="100000"/>
              <a:buFont typeface="Times Roman"/>
              <a:buChar char="•"/>
              <a:defRPr sz="2300">
                <a:latin typeface="Times Roman"/>
                <a:ea typeface="Times Roman"/>
                <a:cs typeface="Times Roman"/>
                <a:sym typeface="Times Roman"/>
              </a:defRPr>
            </a:pPr>
            <a:r>
              <a:t>System validates the input</a:t>
            </a:r>
          </a:p>
          <a:p>
            <a:pPr marL="457200" indent="-317500" defTabSz="457200">
              <a:spcBef>
                <a:spcPts val="1200"/>
              </a:spcBef>
              <a:buSzPct val="100000"/>
              <a:buFont typeface="Times Roman"/>
              <a:buChar char="•"/>
              <a:defRPr sz="2300">
                <a:latin typeface="Times Roman"/>
                <a:ea typeface="Times Roman"/>
                <a:cs typeface="Times Roman"/>
                <a:sym typeface="Times Roman"/>
              </a:defRPr>
            </a:pPr>
            <a:r>
              <a:t>Data is processed to update stock or generate billing</a:t>
            </a:r>
          </a:p>
          <a:p>
            <a:pPr marL="457200" indent="-317500" defTabSz="457200">
              <a:spcBef>
                <a:spcPts val="1200"/>
              </a:spcBef>
              <a:buSzPct val="100000"/>
              <a:buFont typeface="Times Roman"/>
              <a:buChar char="•"/>
              <a:defRPr sz="2300">
                <a:latin typeface="Times Roman"/>
                <a:ea typeface="Times Roman"/>
                <a:cs typeface="Times Roman"/>
                <a:sym typeface="Times Roman"/>
              </a:defRPr>
            </a:pPr>
            <a:r>
              <a:t>Final output is displayed to the user</a:t>
            </a:r>
          </a:p>
          <a:p>
            <a:pPr marL="457200" indent="-317500" defTabSz="457200">
              <a:spcBef>
                <a:spcPts val="1200"/>
              </a:spcBef>
              <a:buSzPct val="100000"/>
              <a:buFont typeface="Times Roman"/>
              <a:buChar char="•"/>
              <a:defRPr sz="2300">
                <a:latin typeface="Times Roman"/>
                <a:ea typeface="Times Roman"/>
                <a:cs typeface="Times Roman"/>
                <a:sym typeface="Times Roman"/>
              </a:defRPr>
            </a:pPr>
            <a:r>
              <a:t>Records are stored for future retrieval</a:t>
            </a:r>
          </a:p>
          <a:p>
            <a:pPr defTabSz="457200">
              <a:spcBef>
                <a:spcPts val="1200"/>
              </a:spcBef>
              <a:defRPr sz="2300">
                <a:latin typeface="Times Roman"/>
                <a:ea typeface="Times Roman"/>
                <a:cs typeface="Times Roman"/>
                <a:sym typeface="Times Roman"/>
              </a:defRPr>
            </a:pPr>
            <a:r>
              <a:t>The flow ensures accuracy and smooth operation.</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1" name="Product Module: Allows adding, viewing, editing, and removing product details.…"/>
          <p:cNvSpPr txBox="1"/>
          <p:nvPr>
            <p:ph type="subTitle" idx="1"/>
          </p:nvPr>
        </p:nvSpPr>
        <p:spPr>
          <a:xfrm>
            <a:off x="241735" y="995921"/>
            <a:ext cx="8203208" cy="5017672"/>
          </a:xfrm>
          <a:prstGeom prst="rect">
            <a:avLst/>
          </a:prstGeom>
        </p:spPr>
        <p:txBody>
          <a:bodyPr/>
          <a:lstStyle/>
          <a:p>
            <a:pPr marL="457200" indent="-317500" defTabSz="457200">
              <a:spcBef>
                <a:spcPts val="1200"/>
              </a:spcBef>
              <a:buSzPct val="100000"/>
              <a:buFont typeface="Times Roman"/>
              <a:buChar char="•"/>
              <a:defRPr sz="1900">
                <a:latin typeface="Times Roman"/>
                <a:ea typeface="Times Roman"/>
                <a:cs typeface="Times Roman"/>
                <a:sym typeface="Times Roman"/>
              </a:defRPr>
            </a:pPr>
          </a:p>
          <a:p>
            <a:pPr marL="457200" indent="-317500" defTabSz="457200">
              <a:spcBef>
                <a:spcPts val="1200"/>
              </a:spcBef>
              <a:buSzPct val="100000"/>
              <a:buFont typeface="Times Roman"/>
              <a:buChar char="•"/>
              <a:defRPr sz="1900">
                <a:latin typeface="Times Roman"/>
                <a:ea typeface="Times Roman"/>
                <a:cs typeface="Times Roman"/>
                <a:sym typeface="Times Roman"/>
              </a:defRPr>
            </a:pPr>
            <a:r>
              <a:rPr b="1"/>
              <a:t>Product Module:</a:t>
            </a:r>
            <a:r>
              <a:t> Allows adding, viewing, editing, and removing product details.</a:t>
            </a:r>
          </a:p>
          <a:p>
            <a:pPr marL="457200" indent="-317500" defTabSz="457200">
              <a:spcBef>
                <a:spcPts val="1200"/>
              </a:spcBef>
              <a:buSzPct val="100000"/>
              <a:buFont typeface="Times Roman"/>
              <a:buChar char="•"/>
              <a:defRPr sz="1900">
                <a:latin typeface="Times Roman"/>
                <a:ea typeface="Times Roman"/>
                <a:cs typeface="Times Roman"/>
                <a:sym typeface="Times Roman"/>
              </a:defRPr>
            </a:pPr>
            <a:r>
              <a:rPr b="1"/>
              <a:t>Inventory Module:</a:t>
            </a:r>
            <a:r>
              <a:t> Manages stock levels and updates quantities automatically.</a:t>
            </a:r>
          </a:p>
          <a:p>
            <a:pPr marL="457200" indent="-317500" defTabSz="457200">
              <a:spcBef>
                <a:spcPts val="1200"/>
              </a:spcBef>
              <a:buSzPct val="100000"/>
              <a:buFont typeface="Times Roman"/>
              <a:buChar char="•"/>
              <a:defRPr sz="1900">
                <a:latin typeface="Times Roman"/>
                <a:ea typeface="Times Roman"/>
                <a:cs typeface="Times Roman"/>
                <a:sym typeface="Times Roman"/>
              </a:defRPr>
            </a:pPr>
            <a:r>
              <a:rPr b="1"/>
              <a:t>Billing Module:</a:t>
            </a:r>
            <a:r>
              <a:t> Calculates total cost, generates final bill, and updates stock.</a:t>
            </a:r>
          </a:p>
          <a:p>
            <a:pPr marL="457200" indent="-317500" defTabSz="457200">
              <a:spcBef>
                <a:spcPts val="1200"/>
              </a:spcBef>
              <a:buSzPct val="100000"/>
              <a:buFont typeface="Times Roman"/>
              <a:buChar char="•"/>
              <a:defRPr sz="1900">
                <a:latin typeface="Times Roman"/>
                <a:ea typeface="Times Roman"/>
                <a:cs typeface="Times Roman"/>
                <a:sym typeface="Times Roman"/>
              </a:defRPr>
            </a:pPr>
            <a:r>
              <a:rPr b="1"/>
              <a:t>Display Module:</a:t>
            </a:r>
            <a:r>
              <a:t> Shows all required details clearly.</a:t>
            </a:r>
          </a:p>
          <a:p>
            <a:pPr marL="457200" indent="-317500" defTabSz="457200">
              <a:spcBef>
                <a:spcPts val="1200"/>
              </a:spcBef>
              <a:buSzPct val="100000"/>
              <a:buFont typeface="Times Roman"/>
              <a:buChar char="•"/>
              <a:defRPr sz="1900">
                <a:latin typeface="Times Roman"/>
                <a:ea typeface="Times Roman"/>
                <a:cs typeface="Times Roman"/>
                <a:sym typeface="Times Roman"/>
              </a:defRPr>
            </a:pPr>
            <a:r>
              <a:rPr b="1"/>
              <a:t>Storage Module:</a:t>
            </a:r>
            <a:r>
              <a:t> Saves and retrieves product records for long-term use.</a:t>
            </a:r>
          </a:p>
          <a:p>
            <a:pPr defTabSz="457200">
              <a:spcBef>
                <a:spcPts val="1200"/>
              </a:spcBef>
              <a:defRPr sz="1900">
                <a:latin typeface="Times Roman"/>
                <a:ea typeface="Times Roman"/>
                <a:cs typeface="Times Roman"/>
                <a:sym typeface="Times Roman"/>
              </a:defRPr>
            </a:pPr>
            <a:r>
              <a:t>Each module works together to handle shopping management efficiently.</a:t>
            </a:r>
          </a:p>
          <a:p>
            <a:pPr defTabSz="457200">
              <a:defRPr sz="1900">
                <a:solidFill>
                  <a:srgbClr val="808080"/>
                </a:solidFill>
                <a:latin typeface="Times Roman"/>
                <a:ea typeface="Times Roman"/>
                <a:cs typeface="Times Roman"/>
                <a:sym typeface="Times Roman"/>
              </a:defRPr>
            </a:pPr>
          </a:p>
          <a:p>
            <a:pPr defTabSz="457200">
              <a:spcBef>
                <a:spcPts val="1600"/>
              </a:spcBef>
              <a:defRPr b="1" sz="1900">
                <a:latin typeface="Times Roman"/>
                <a:ea typeface="Times Roman"/>
                <a:cs typeface="Times Roman"/>
                <a:sym typeface="Times Roman"/>
              </a:defRPr>
            </a:pPr>
          </a:p>
        </p:txBody>
      </p:sp>
      <p:sp>
        <p:nvSpPr>
          <p:cNvPr id="142" name="3.4 Module Description"/>
          <p:cNvSpPr txBox="1"/>
          <p:nvPr/>
        </p:nvSpPr>
        <p:spPr>
          <a:xfrm>
            <a:off x="67942" y="170180"/>
            <a:ext cx="3523430" cy="497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457200">
              <a:spcBef>
                <a:spcPts val="1200"/>
              </a:spcBef>
              <a:defRPr b="1" sz="2700">
                <a:latin typeface="Times Roman"/>
                <a:ea typeface="Times Roman"/>
                <a:cs typeface="Times Roman"/>
                <a:sym typeface="Times Roman"/>
              </a:defRPr>
            </a:lvl1pPr>
          </a:lstStyle>
          <a:p>
            <a:pPr/>
            <a:r>
              <a:t>3.4 Module Description</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Result"/>
          <p:cNvSpPr txBox="1"/>
          <p:nvPr/>
        </p:nvSpPr>
        <p:spPr>
          <a:xfrm>
            <a:off x="218262" y="149381"/>
            <a:ext cx="1250769" cy="53943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3500"/>
            </a:lvl1pPr>
          </a:lstStyle>
          <a:p>
            <a:pPr/>
            <a:r>
              <a:t>Result</a:t>
            </a:r>
          </a:p>
        </p:txBody>
      </p:sp>
      <p:sp>
        <p:nvSpPr>
          <p:cNvPr id="145" name="The Smart Shop system successfully performs all required shopping management activities. The results include:"/>
          <p:cNvSpPr txBox="1"/>
          <p:nvPr/>
        </p:nvSpPr>
        <p:spPr>
          <a:xfrm>
            <a:off x="192395" y="947355"/>
            <a:ext cx="8555098" cy="7010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defTabSz="457200">
              <a:defRPr sz="2000">
                <a:latin typeface="Times Roman"/>
                <a:ea typeface="Times Roman"/>
                <a:cs typeface="Times Roman"/>
                <a:sym typeface="Times Roman"/>
              </a:defRPr>
            </a:pPr>
            <a:r>
              <a:t>The </a:t>
            </a:r>
            <a:r>
              <a:rPr b="1"/>
              <a:t>Smart Shop</a:t>
            </a:r>
            <a:r>
              <a:t> system successfully performs all required shopping management activities. The results include:</a:t>
            </a:r>
          </a:p>
        </p:txBody>
      </p:sp>
      <p:sp>
        <p:nvSpPr>
          <p:cNvPr id="146" name="1. Login Page"/>
          <p:cNvSpPr txBox="1"/>
          <p:nvPr/>
        </p:nvSpPr>
        <p:spPr>
          <a:xfrm>
            <a:off x="172526" y="1906933"/>
            <a:ext cx="1548592" cy="36277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100"/>
            </a:lvl1pPr>
          </a:lstStyle>
          <a:p>
            <a:pPr/>
            <a:r>
              <a:t>1. Login Page</a:t>
            </a:r>
          </a:p>
        </p:txBody>
      </p:sp>
      <p:pic>
        <p:nvPicPr>
          <p:cNvPr id="147" name="Screenshot 2025-11-19 at 12.29.38 AM.png" descr="Screenshot 2025-11-19 at 12.29.38 AM.png"/>
          <p:cNvPicPr>
            <a:picLocks noChangeAspect="1"/>
          </p:cNvPicPr>
          <p:nvPr/>
        </p:nvPicPr>
        <p:blipFill>
          <a:blip r:embed="rId2">
            <a:extLst/>
          </a:blip>
          <a:stretch>
            <a:fillRect/>
          </a:stretch>
        </p:blipFill>
        <p:spPr>
          <a:xfrm>
            <a:off x="77531" y="2325836"/>
            <a:ext cx="8988938" cy="3702324"/>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2. Items"/>
          <p:cNvSpPr txBox="1"/>
          <p:nvPr>
            <p:ph type="ctrTitle"/>
          </p:nvPr>
        </p:nvSpPr>
        <p:spPr>
          <a:xfrm>
            <a:off x="103791" y="1052497"/>
            <a:ext cx="7772401" cy="1440181"/>
          </a:xfrm>
          <a:prstGeom prst="rect">
            <a:avLst/>
          </a:prstGeom>
        </p:spPr>
        <p:txBody>
          <a:bodyPr/>
          <a:lstStyle>
            <a:lvl1pPr>
              <a:defRPr b="1" sz="2500"/>
            </a:lvl1pPr>
          </a:lstStyle>
          <a:p>
            <a:pPr/>
            <a:r>
              <a:t>2. Items</a:t>
            </a:r>
          </a:p>
        </p:txBody>
      </p:sp>
      <p:pic>
        <p:nvPicPr>
          <p:cNvPr id="150" name="Screenshot 2025-11-19 at 12.32.01 AM.png" descr="Screenshot 2025-11-19 at 12.32.01 AM.png"/>
          <p:cNvPicPr>
            <a:picLocks noChangeAspect="1"/>
          </p:cNvPicPr>
          <p:nvPr/>
        </p:nvPicPr>
        <p:blipFill>
          <a:blip r:embed="rId2">
            <a:extLst/>
          </a:blip>
          <a:stretch>
            <a:fillRect/>
          </a:stretch>
        </p:blipFill>
        <p:spPr>
          <a:xfrm>
            <a:off x="41771" y="1566197"/>
            <a:ext cx="9060458" cy="4877650"/>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3. Wishlist"/>
          <p:cNvSpPr txBox="1"/>
          <p:nvPr>
            <p:ph type="ctrTitle"/>
          </p:nvPr>
        </p:nvSpPr>
        <p:spPr>
          <a:xfrm>
            <a:off x="116725" y="897295"/>
            <a:ext cx="7772401" cy="1440181"/>
          </a:xfrm>
          <a:prstGeom prst="rect">
            <a:avLst/>
          </a:prstGeom>
        </p:spPr>
        <p:txBody>
          <a:bodyPr/>
          <a:lstStyle>
            <a:lvl1pPr>
              <a:defRPr b="1" sz="2500"/>
            </a:lvl1pPr>
          </a:lstStyle>
          <a:p>
            <a:pPr/>
            <a:r>
              <a:t>3. Wishlist</a:t>
            </a:r>
          </a:p>
        </p:txBody>
      </p:sp>
      <p:pic>
        <p:nvPicPr>
          <p:cNvPr id="153" name="Screenshot 2025-11-19 at 12.35.07 AM.png" descr="Screenshot 2025-11-19 at 12.35.07 AM.png"/>
          <p:cNvPicPr>
            <a:picLocks noChangeAspect="1"/>
          </p:cNvPicPr>
          <p:nvPr/>
        </p:nvPicPr>
        <p:blipFill>
          <a:blip r:embed="rId2">
            <a:extLst/>
          </a:blip>
          <a:stretch>
            <a:fillRect/>
          </a:stretch>
        </p:blipFill>
        <p:spPr>
          <a:xfrm>
            <a:off x="25626" y="1501849"/>
            <a:ext cx="9092748" cy="689882"/>
          </a:xfrm>
          <a:prstGeom prst="rect">
            <a:avLst/>
          </a:prstGeom>
          <a:ln w="12700">
            <a:miter lim="400000"/>
          </a:ln>
        </p:spPr>
      </p:pic>
      <p:sp>
        <p:nvSpPr>
          <p:cNvPr id="154" name="4. Cart"/>
          <p:cNvSpPr txBox="1"/>
          <p:nvPr/>
        </p:nvSpPr>
        <p:spPr>
          <a:xfrm>
            <a:off x="41183" y="2567145"/>
            <a:ext cx="934750" cy="39247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vl1pPr>
          </a:lstStyle>
          <a:p>
            <a:pPr/>
            <a:r>
              <a:t>4. Cart</a:t>
            </a:r>
          </a:p>
        </p:txBody>
      </p:sp>
      <p:pic>
        <p:nvPicPr>
          <p:cNvPr id="155" name="Screenshot 2025-11-19 at 12.37.40 AM.png" descr="Screenshot 2025-11-19 at 12.37.40 AM.png"/>
          <p:cNvPicPr>
            <a:picLocks noChangeAspect="1"/>
          </p:cNvPicPr>
          <p:nvPr/>
        </p:nvPicPr>
        <p:blipFill>
          <a:blip r:embed="rId3">
            <a:extLst/>
          </a:blip>
          <a:stretch>
            <a:fillRect/>
          </a:stretch>
        </p:blipFill>
        <p:spPr>
          <a:xfrm>
            <a:off x="168288" y="2966585"/>
            <a:ext cx="6777176" cy="3732045"/>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60" name="object 2"/>
          <p:cNvGrpSpPr/>
          <p:nvPr/>
        </p:nvGrpSpPr>
        <p:grpSpPr>
          <a:xfrm>
            <a:off x="6146792" y="-1"/>
            <a:ext cx="2995922" cy="876295"/>
            <a:chOff x="0" y="0"/>
            <a:chExt cx="2995921" cy="876293"/>
          </a:xfrm>
        </p:grpSpPr>
        <p:pic>
          <p:nvPicPr>
            <p:cNvPr id="157" name="object 3" descr="object 3"/>
            <p:cNvPicPr>
              <a:picLocks noChangeAspect="1"/>
            </p:cNvPicPr>
            <p:nvPr/>
          </p:nvPicPr>
          <p:blipFill>
            <a:blip r:embed="rId2">
              <a:extLst/>
            </a:blip>
            <a:stretch>
              <a:fillRect/>
            </a:stretch>
          </p:blipFill>
          <p:spPr>
            <a:xfrm>
              <a:off x="406406" y="228599"/>
              <a:ext cx="2057400" cy="638176"/>
            </a:xfrm>
            <a:prstGeom prst="rect">
              <a:avLst/>
            </a:prstGeom>
            <a:ln w="12700" cap="flat">
              <a:noFill/>
              <a:miter lim="400000"/>
            </a:ln>
            <a:effectLst/>
          </p:spPr>
        </p:pic>
        <p:sp>
          <p:nvSpPr>
            <p:cNvPr id="158" name="object 4"/>
            <p:cNvSpPr/>
            <p:nvPr/>
          </p:nvSpPr>
          <p:spPr>
            <a:xfrm>
              <a:off x="-1" y="-1"/>
              <a:ext cx="2995922" cy="838195"/>
            </a:xfrm>
            <a:prstGeom prst="rect">
              <a:avLst/>
            </a:prstGeom>
            <a:solidFill>
              <a:srgbClr val="FF3300"/>
            </a:solidFill>
            <a:ln w="12700" cap="flat">
              <a:noFill/>
              <a:miter lim="400000"/>
            </a:ln>
            <a:effectLst/>
          </p:spPr>
          <p:txBody>
            <a:bodyPr wrap="square" lIns="45719" tIns="45719" rIns="45719" bIns="45719" numCol="1" anchor="t">
              <a:noAutofit/>
            </a:bodyPr>
            <a:lstStyle/>
            <a:p>
              <a:pPr/>
            </a:p>
          </p:txBody>
        </p:sp>
        <p:pic>
          <p:nvPicPr>
            <p:cNvPr id="159" name="object 5" descr="object 5"/>
            <p:cNvPicPr>
              <a:picLocks noChangeAspect="1"/>
            </p:cNvPicPr>
            <p:nvPr/>
          </p:nvPicPr>
          <p:blipFill>
            <a:blip r:embed="rId3">
              <a:extLst/>
            </a:blip>
            <a:stretch>
              <a:fillRect/>
            </a:stretch>
          </p:blipFill>
          <p:spPr>
            <a:xfrm>
              <a:off x="380997" y="190496"/>
              <a:ext cx="2082808" cy="685797"/>
            </a:xfrm>
            <a:prstGeom prst="rect">
              <a:avLst/>
            </a:prstGeom>
            <a:ln w="12700" cap="flat">
              <a:noFill/>
              <a:miter lim="400000"/>
            </a:ln>
            <a:effectLst/>
          </p:spPr>
        </p:pic>
      </p:grpSp>
      <p:sp>
        <p:nvSpPr>
          <p:cNvPr id="161" name="object 6"/>
          <p:cNvSpPr txBox="1"/>
          <p:nvPr>
            <p:ph type="title"/>
          </p:nvPr>
        </p:nvSpPr>
        <p:spPr>
          <a:xfrm>
            <a:off x="235879" y="205845"/>
            <a:ext cx="4144010" cy="464603"/>
          </a:xfrm>
          <a:prstGeom prst="rect">
            <a:avLst/>
          </a:prstGeom>
        </p:spPr>
        <p:txBody>
          <a:bodyPr/>
          <a:lstStyle>
            <a:lvl1pPr indent="12700">
              <a:spcBef>
                <a:spcPts val="100"/>
              </a:spcBef>
              <a:defRPr b="1" spc="93" sz="3000"/>
            </a:lvl1pPr>
          </a:lstStyle>
          <a:p>
            <a:pPr/>
            <a:r>
              <a:t>Conclusion</a:t>
            </a:r>
          </a:p>
        </p:txBody>
      </p:sp>
      <p:sp>
        <p:nvSpPr>
          <p:cNvPr id="162" name="TextBox 12"/>
          <p:cNvSpPr txBox="1"/>
          <p:nvPr/>
        </p:nvSpPr>
        <p:spPr>
          <a:xfrm>
            <a:off x="100350" y="1059179"/>
            <a:ext cx="8943299" cy="5946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spcBef>
                <a:spcPts val="1200"/>
              </a:spcBef>
              <a:defRPr sz="2100">
                <a:latin typeface="Times Roman"/>
                <a:ea typeface="Times Roman"/>
                <a:cs typeface="Times Roman"/>
                <a:sym typeface="Times Roman"/>
              </a:defRPr>
            </a:pPr>
            <a:r>
              <a:t>The </a:t>
            </a:r>
            <a:r>
              <a:rPr b="1"/>
              <a:t>Smart Shop</a:t>
            </a:r>
            <a:r>
              <a:t> project successfully demonstrates how modern retail management can be simplified using a combination of </a:t>
            </a:r>
            <a:r>
              <a:rPr b="1"/>
              <a:t>Java for backend processing</a:t>
            </a:r>
            <a:r>
              <a:t> and </a:t>
            </a:r>
            <a:r>
              <a:rPr b="1"/>
              <a:t>React, JavaScript, HTML, and CSS for an interactive frontend interface</a:t>
            </a:r>
            <a:r>
              <a:t>. Through this project, essential shop operations such as product listing, inventory tracking, billing, and user interaction were streamlined into a structured and user-friendly system.</a:t>
            </a:r>
          </a:p>
          <a:p>
            <a:pPr defTabSz="457200">
              <a:spcBef>
                <a:spcPts val="1200"/>
              </a:spcBef>
              <a:defRPr sz="2100">
                <a:latin typeface="Times Roman"/>
                <a:ea typeface="Times Roman"/>
                <a:cs typeface="Times Roman"/>
                <a:sym typeface="Times Roman"/>
              </a:defRPr>
            </a:pPr>
            <a:r>
              <a:t>The application provides a reliable and efficient method for managing store activities by integrating file-based storage, intuitive UI components, and modular Java logic. It highlights how hybrid technologies can work together to build scalable, maintainable, and visually appealing software solutions.</a:t>
            </a:r>
          </a:p>
          <a:p>
            <a:pPr defTabSz="457200">
              <a:spcBef>
                <a:spcPts val="1200"/>
              </a:spcBef>
              <a:defRPr sz="2100">
                <a:latin typeface="Times Roman"/>
                <a:ea typeface="Times Roman"/>
                <a:cs typeface="Times Roman"/>
                <a:sym typeface="Times Roman"/>
              </a:defRPr>
            </a:pPr>
            <a:r>
              <a:t>Overall, the project achieves its objectives by offering a practical solution that enhances productivity, reduces manual errors, and provides an organized workflow for small to medium retail environments. The Smart Shop system can be further expanded in the future by introducing a database, adding authentication, implementing cloud storage, or integrating payment gateways. This demonstrates the potential for scalability and real-world applicability of the project.</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object 2"/>
          <p:cNvSpPr/>
          <p:nvPr/>
        </p:nvSpPr>
        <p:spPr>
          <a:xfrm>
            <a:off x="-1" y="-1"/>
            <a:ext cx="9143995" cy="838198"/>
          </a:xfrm>
          <a:prstGeom prst="rect">
            <a:avLst/>
          </a:prstGeom>
          <a:solidFill>
            <a:srgbClr val="FF3300"/>
          </a:solidFill>
          <a:ln w="12700">
            <a:miter lim="400000"/>
          </a:ln>
        </p:spPr>
        <p:txBody>
          <a:bodyPr lIns="45719" rIns="45719"/>
          <a:lstStyle/>
          <a:p>
            <a:pPr/>
          </a:p>
        </p:txBody>
      </p:sp>
      <p:sp>
        <p:nvSpPr>
          <p:cNvPr id="165" name="object 3"/>
          <p:cNvSpPr/>
          <p:nvPr/>
        </p:nvSpPr>
        <p:spPr>
          <a:xfrm>
            <a:off x="-1" y="6705593"/>
            <a:ext cx="9143995" cy="152401"/>
          </a:xfrm>
          <a:prstGeom prst="rect">
            <a:avLst/>
          </a:prstGeom>
          <a:solidFill>
            <a:srgbClr val="FF0000"/>
          </a:solidFill>
          <a:ln w="12700">
            <a:miter lim="400000"/>
          </a:ln>
        </p:spPr>
        <p:txBody>
          <a:bodyPr lIns="45719" rIns="45719"/>
          <a:lstStyle/>
          <a:p>
            <a:pPr/>
          </a:p>
        </p:txBody>
      </p:sp>
      <p:grpSp>
        <p:nvGrpSpPr>
          <p:cNvPr id="169" name="object 4"/>
          <p:cNvGrpSpPr/>
          <p:nvPr/>
        </p:nvGrpSpPr>
        <p:grpSpPr>
          <a:xfrm>
            <a:off x="6146796" y="-1"/>
            <a:ext cx="2995912" cy="876301"/>
            <a:chOff x="0" y="0"/>
            <a:chExt cx="2995911" cy="876299"/>
          </a:xfrm>
        </p:grpSpPr>
        <p:pic>
          <p:nvPicPr>
            <p:cNvPr id="166" name="object 5" descr="object 5"/>
            <p:cNvPicPr>
              <a:picLocks noChangeAspect="1"/>
            </p:cNvPicPr>
            <p:nvPr/>
          </p:nvPicPr>
          <p:blipFill>
            <a:blip r:embed="rId2">
              <a:extLst/>
            </a:blip>
            <a:stretch>
              <a:fillRect/>
            </a:stretch>
          </p:blipFill>
          <p:spPr>
            <a:xfrm>
              <a:off x="406402" y="228599"/>
              <a:ext cx="2057400" cy="638176"/>
            </a:xfrm>
            <a:prstGeom prst="rect">
              <a:avLst/>
            </a:prstGeom>
            <a:ln w="12700" cap="flat">
              <a:noFill/>
              <a:miter lim="400000"/>
            </a:ln>
            <a:effectLst/>
          </p:spPr>
        </p:pic>
        <p:sp>
          <p:nvSpPr>
            <p:cNvPr id="167" name="object 6"/>
            <p:cNvSpPr/>
            <p:nvPr/>
          </p:nvSpPr>
          <p:spPr>
            <a:xfrm>
              <a:off x="-1" y="-1"/>
              <a:ext cx="2995913" cy="838201"/>
            </a:xfrm>
            <a:prstGeom prst="rect">
              <a:avLst/>
            </a:prstGeom>
            <a:solidFill>
              <a:srgbClr val="FF3300"/>
            </a:solidFill>
            <a:ln w="12700" cap="flat">
              <a:noFill/>
              <a:miter lim="400000"/>
            </a:ln>
            <a:effectLst/>
          </p:spPr>
          <p:txBody>
            <a:bodyPr wrap="square" lIns="45719" tIns="45719" rIns="45719" bIns="45719" numCol="1" anchor="t">
              <a:noAutofit/>
            </a:bodyPr>
            <a:lstStyle/>
            <a:p>
              <a:pPr/>
            </a:p>
          </p:txBody>
        </p:sp>
        <p:pic>
          <p:nvPicPr>
            <p:cNvPr id="168" name="object 7" descr="object 7"/>
            <p:cNvPicPr>
              <a:picLocks noChangeAspect="1"/>
            </p:cNvPicPr>
            <p:nvPr/>
          </p:nvPicPr>
          <p:blipFill>
            <a:blip r:embed="rId3">
              <a:extLst/>
            </a:blip>
            <a:stretch>
              <a:fillRect/>
            </a:stretch>
          </p:blipFill>
          <p:spPr>
            <a:xfrm>
              <a:off x="380999" y="190499"/>
              <a:ext cx="2082805" cy="685801"/>
            </a:xfrm>
            <a:prstGeom prst="rect">
              <a:avLst/>
            </a:prstGeom>
            <a:ln w="12700" cap="flat">
              <a:noFill/>
              <a:miter lim="400000"/>
            </a:ln>
            <a:effectLst/>
          </p:spPr>
        </p:pic>
      </p:grpSp>
      <p:sp>
        <p:nvSpPr>
          <p:cNvPr id="170" name="object 8"/>
          <p:cNvSpPr txBox="1"/>
          <p:nvPr>
            <p:ph type="title"/>
          </p:nvPr>
        </p:nvSpPr>
        <p:spPr>
          <a:xfrm>
            <a:off x="546283" y="119878"/>
            <a:ext cx="4144011" cy="581661"/>
          </a:xfrm>
          <a:prstGeom prst="rect">
            <a:avLst/>
          </a:prstGeom>
        </p:spPr>
        <p:txBody>
          <a:bodyPr/>
          <a:lstStyle/>
          <a:p>
            <a:pPr indent="12700"/>
            <a:r>
              <a:t>References</a:t>
            </a:r>
            <a:r>
              <a:rPr sz="3600">
                <a:latin typeface="Verdana"/>
                <a:ea typeface="Verdana"/>
                <a:cs typeface="Verdana"/>
                <a:sym typeface="Verdana"/>
              </a:rPr>
              <a:t>/</a:t>
            </a:r>
            <a:r>
              <a:t>Link</a:t>
            </a:r>
            <a:r>
              <a:rPr spc="-500"/>
              <a:t> </a:t>
            </a:r>
            <a:r>
              <a:rPr spc="100"/>
              <a:t>Used</a:t>
            </a:r>
          </a:p>
        </p:txBody>
      </p:sp>
      <p:sp>
        <p:nvSpPr>
          <p:cNvPr id="171" name="Rectangle 1"/>
          <p:cNvSpPr txBox="1"/>
          <p:nvPr/>
        </p:nvSpPr>
        <p:spPr>
          <a:xfrm>
            <a:off x="145668" y="1167790"/>
            <a:ext cx="8661014" cy="2682241"/>
          </a:xfrm>
          <a:prstGeom prst="rect">
            <a:avLst/>
          </a:prstGeom>
          <a:ln w="12700">
            <a:miter lim="400000"/>
          </a:ln>
          <a:extLst>
            <a:ext uri="{C572A759-6A51-4108-AA02-DFA0A04FC94B}">
              <ma14:wrappingTextBoxFlag xmlns:ma14="http://schemas.microsoft.com/office/mac/drawingml/2011/main" val="1"/>
            </a:ext>
          </a:extLst>
        </p:spPr>
        <p:txBody>
          <a:bodyPr wrap="none" lIns="45719" rIns="45719" anchor="ctr">
            <a:spAutoFit/>
          </a:bodyPr>
          <a:lstStyle/>
          <a:p>
            <a:pPr defTabSz="457200">
              <a:spcBef>
                <a:spcPts val="1200"/>
              </a:spcBef>
              <a:defRPr i="1" sz="2000" u="sng">
                <a:latin typeface="Times Roman"/>
                <a:ea typeface="Times Roman"/>
                <a:cs typeface="Times Roman"/>
                <a:sym typeface="Times Roman"/>
              </a:defRPr>
            </a:pPr>
            <a:r>
              <a:t>Oracle. Java SE Documentation.</a:t>
            </a:r>
          </a:p>
          <a:p>
            <a:pPr defTabSz="457200">
              <a:spcBef>
                <a:spcPts val="1200"/>
              </a:spcBef>
              <a:defRPr i="1" sz="2000" u="sng">
                <a:latin typeface="Times Roman"/>
                <a:ea typeface="Times Roman"/>
                <a:cs typeface="Times Roman"/>
                <a:sym typeface="Times Roman"/>
              </a:defRPr>
            </a:pPr>
            <a:r>
              <a:t>MDN Web Docs. HTML, CSS, and JavaScript Guides.</a:t>
            </a:r>
          </a:p>
          <a:p>
            <a:pPr defTabSz="457200">
              <a:spcBef>
                <a:spcPts val="1200"/>
              </a:spcBef>
              <a:defRPr i="1" sz="2000" u="sng">
                <a:latin typeface="Times Roman"/>
                <a:ea typeface="Times Roman"/>
                <a:cs typeface="Times Roman"/>
                <a:sym typeface="Times Roman"/>
              </a:defRPr>
            </a:pPr>
            <a:r>
              <a:t>ReactJS. Official React Documentation.</a:t>
            </a:r>
          </a:p>
          <a:p>
            <a:pPr defTabSz="457200">
              <a:spcBef>
                <a:spcPts val="1200"/>
              </a:spcBef>
              <a:defRPr i="1" sz="2000" u="sng">
                <a:latin typeface="Times Roman"/>
                <a:ea typeface="Times Roman"/>
                <a:cs typeface="Times Roman"/>
                <a:sym typeface="Times Roman"/>
              </a:defRPr>
            </a:pPr>
            <a:r>
              <a:t>Visual Studio Code. Editor Documentation.</a:t>
            </a:r>
          </a:p>
          <a:p>
            <a:pPr defTabSz="457200">
              <a:spcBef>
                <a:spcPts val="1200"/>
              </a:spcBef>
              <a:defRPr i="1" sz="2000" u="sng">
                <a:latin typeface="Times Roman"/>
                <a:ea typeface="Times Roman"/>
                <a:cs typeface="Times Roman"/>
                <a:sym typeface="Times Roman"/>
              </a:defRPr>
            </a:pPr>
            <a:r>
              <a:t>W3Schools. Web Development Tutorials.</a:t>
            </a:r>
          </a:p>
          <a:p>
            <a:pPr defTabSz="457200">
              <a:defRPr i="1" sz="2000" u="sng">
                <a:latin typeface="Times Roman"/>
                <a:ea typeface="Times Roman"/>
                <a:cs typeface="Times Roman"/>
                <a:sym typeface="Times Roman"/>
              </a:defRPr>
            </a:pPr>
            <a:r>
              <a:t>Mozilla Developer Network (MDN). CSS: Cascading Style Sheets – Documentation.</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3" name="Screenshot 2025-11-19 at 12.45.41 AM.png" descr="Screenshot 2025-11-19 at 12.45.41 AM.png"/>
          <p:cNvPicPr>
            <a:picLocks noChangeAspect="1"/>
          </p:cNvPicPr>
          <p:nvPr/>
        </p:nvPicPr>
        <p:blipFill>
          <a:blip r:embed="rId2">
            <a:extLst/>
          </a:blip>
          <a:stretch>
            <a:fillRect/>
          </a:stretch>
        </p:blipFill>
        <p:spPr>
          <a:xfrm>
            <a:off x="444500" y="1854200"/>
            <a:ext cx="8255000" cy="3149600"/>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Helvetica Neue"/>
        <a:ea typeface="Helvetica Neue"/>
        <a:cs typeface="Helvetica Neue"/>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Helvetica Neue"/>
        <a:ea typeface="Helvetica Neue"/>
        <a:cs typeface="Helvetica Neue"/>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